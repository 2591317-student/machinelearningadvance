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4" r:id="rId2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kiến trúc MLP: đầu vào khoảng 39 chiều (19 đặc trưng số + one-hot Device Type + 16 đặc trưng mờ) → 3 tầng ẩn 128–64–32 (Linear + ReLU + BatchNorm + Dropout 0.3) → 1 logit → sigmoid ra xác suất. Lưu ý: nhấn 16 đặc trưng mờ từ Mamdani được đưa THẲNG vào MLP làm đầu vào.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kỹ thuật huấn luyện: (1) xử lý mất cân bằng bằng BCEWithLogitsLoss với pos_weight = số âm/số dương; (2) tối ưu Adam, lr = 1e-3; (3) ReduceLROnPlateau giảm LR khi Val AUPRC chững; (4) dừng sớm theo Val AUPRC; (5) chia 70/15/15 phân tầng theo nhãn. Lưu ý: chọn mô hình tốt nhất theo AUPRC (không phải Accuracy) vì dữ liệu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quả trên tập test 36.997 dòng: AUROC 86.6%, AUPRC 22.3%, Accuracy 75.4%, Precision 9.9%, Recall 84.9%, F1 17.7%. Recall cao = bắt được phần lớn tấn công; Precision thấp = nhiều báo động giả do mất cân bằng ở ngưỡng 0.5. Lưu ý: nhấn AUPRC (so với baseline ngẫu nhiên ~3%) mới phản ánh chất lượng thật; Accuracy dễ gây hiểu nhầm với dữ liệu lệch lớp.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0.866 và Recall 84.9%,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ablation — chứng minh nhánh mờ có đóng góp. Ta huấn luyện lại đúng kiến trúc, cách chia và seed nhưng BỎ 16 đặc trưng mờ, rồi so với mô hình đầy đủ trên cùng mẫu 246.600 dòng. Δ = (có mờ) − (không mờ): AUPRC +7.5%, Recall +2.7%, AUROC +2.1% (tăng rõ ở các chỉ số quan trọng với dữ liệu lệch lớp), Accuracy/Precision gần như không đổi. Lưu ý: nhấn rằng đặc trưng mờ là hàm phi tuyến tường minh của cùng biến thô — MLP có thể tự học một phần, nhưng mã hoá sẵn tri thức 8 luật giúp hội tụ tới tín hiệu rủi ro tốt hơn. Đây là bằng chứng định lượng cho câu hỏi 'phần mờ có thực sự cần thiết không?'.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p/>
        </p:txBody>
      </p:sp>
      <p:sp>
        <p:nvSpPr>
          <p:cNvPr id="3" name="Shape 1"/>
          <p:cNvSpPr/>
          <p:nvPr/>
        </p:nvSpPr>
        <p:spPr>
          <a:xfrm>
            <a:off x="8778240" y="-2103120"/>
            <a:ext cx="6400800" cy="6400800"/>
          </a:xfrm>
          <a:prstGeom prst="ellipse">
            <a:avLst/>
          </a:prstGeom>
          <a:solidFill>
            <a:srgbClr val="132747"/>
          </a:solidFill>
          <a:ln/>
        </p:spPr>
        <p:txBody>
          <a:bodyPr/>
          <a:p/>
        </p:txBody>
      </p:sp>
      <p:sp>
        <p:nvSpPr>
          <p:cNvPr id="4" name="Shape 2"/>
          <p:cNvSpPr/>
          <p:nvPr/>
        </p:nvSpPr>
        <p:spPr>
          <a:xfrm>
            <a:off x="10241280" y="4023360"/>
            <a:ext cx="3840480" cy="3840480"/>
          </a:xfrm>
          <a:prstGeom prst="ellipse">
            <a:avLst/>
          </a:prstGeom>
          <a:solidFill>
            <a:srgbClr val="1C7293">
              <a:alpha val="22000"/>
            </a:srgbClr>
          </a:solidFill>
          <a:ln/>
        </p:spPr>
        <p:txBody>
          <a:bodyPr/>
          <a:p/>
        </p:txBody>
      </p:sp>
      <p:sp>
        <p:nvSpPr>
          <p:cNvPr id="5" name="Text 3"/>
          <p:cNvSpPr/>
          <p:nvPr/>
        </p:nvSpPr>
        <p:spPr>
          <a:xfrm>
            <a:off x="822960" y="1417320"/>
            <a:ext cx="9144000" cy="36576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p/>
        </p:txBody>
      </p:sp>
      <p:sp>
        <p:nvSpPr>
          <p:cNvPr id="9" name="Text 7"/>
          <p:cNvSpPr/>
          <p:nvPr/>
        </p:nvSpPr>
        <p:spPr>
          <a:xfrm>
            <a:off x="822960" y="534924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Nhóm 10   •   Lớp: KHMT 2025B   •   GVHD: TS. Phan Thị Huyền Trang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5" name="Shape 3"/>
          <p:cNvSpPr/>
          <p:nvPr/>
        </p:nvSpPr>
        <p:spPr>
          <a:xfrm>
            <a:off x="804672" y="2176272"/>
            <a:ext cx="768096" cy="768096"/>
          </a:xfrm>
          <a:prstGeom prst="ellipse">
            <a:avLst/>
          </a:prstGeom>
          <a:solidFill>
            <a:srgbClr val="132747"/>
          </a:solidFill>
          <a:ln/>
        </p:spPr>
        <p:txBody>
          <a:bodyPr/>
          <a:p/>
        </p:txBody>
      </p:sp>
      <p:sp>
        <p:nvSpPr>
          <p:cNvPr id="6" name="Text 4"/>
          <p:cNvSpPr/>
          <p:nvPr/>
        </p:nvSpPr>
        <p:spPr>
          <a:xfrm>
            <a:off x="804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0" name="Shape 8"/>
          <p:cNvSpPr/>
          <p:nvPr/>
        </p:nvSpPr>
        <p:spPr>
          <a:xfrm>
            <a:off x="6519672" y="2176272"/>
            <a:ext cx="768096" cy="768096"/>
          </a:xfrm>
          <a:prstGeom prst="ellipse">
            <a:avLst/>
          </a:prstGeom>
          <a:solidFill>
            <a:srgbClr val="132747"/>
          </a:solidFill>
          <a:ln/>
        </p:spPr>
        <p:txBody>
          <a:bodyPr/>
          <a:p/>
        </p:txBody>
      </p:sp>
      <p:sp>
        <p:nvSpPr>
          <p:cNvPr id="11" name="Text 9"/>
          <p:cNvSpPr/>
          <p:nvPr/>
        </p:nvSpPr>
        <p:spPr>
          <a:xfrm>
            <a:off x="6519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5" name="Shape 13"/>
          <p:cNvSpPr/>
          <p:nvPr/>
        </p:nvSpPr>
        <p:spPr>
          <a:xfrm>
            <a:off x="804672" y="3867912"/>
            <a:ext cx="768096" cy="768096"/>
          </a:xfrm>
          <a:prstGeom prst="ellipse">
            <a:avLst/>
          </a:prstGeom>
          <a:solidFill>
            <a:srgbClr val="132747"/>
          </a:solidFill>
          <a:ln/>
        </p:spPr>
        <p:txBody>
          <a:bodyPr/>
          <a:p/>
        </p:txBody>
      </p:sp>
      <p:sp>
        <p:nvSpPr>
          <p:cNvPr id="16" name="Text 14"/>
          <p:cNvSpPr/>
          <p:nvPr/>
        </p:nvSpPr>
        <p:spPr>
          <a:xfrm>
            <a:off x="804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0" name="Shape 18"/>
          <p:cNvSpPr/>
          <p:nvPr/>
        </p:nvSpPr>
        <p:spPr>
          <a:xfrm>
            <a:off x="6519672" y="3867912"/>
            <a:ext cx="768096" cy="768096"/>
          </a:xfrm>
          <a:prstGeom prst="ellipse">
            <a:avLst/>
          </a:prstGeom>
          <a:solidFill>
            <a:srgbClr val="132747"/>
          </a:solidFill>
          <a:ln/>
        </p:spPr>
        <p:txBody>
          <a:bodyPr/>
          <a:p/>
        </p:txBody>
      </p:sp>
      <p:sp>
        <p:nvSpPr>
          <p:cNvPr id="21" name="Text 19"/>
          <p:cNvSpPr/>
          <p:nvPr/>
        </p:nvSpPr>
        <p:spPr>
          <a:xfrm>
            <a:off x="6519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5" name="Shape 23"/>
          <p:cNvSpPr/>
          <p:nvPr/>
        </p:nvSpPr>
        <p:spPr>
          <a:xfrm>
            <a:off x="804672" y="5559552"/>
            <a:ext cx="768096" cy="768096"/>
          </a:xfrm>
          <a:prstGeom prst="ellipse">
            <a:avLst/>
          </a:prstGeom>
          <a:solidFill>
            <a:srgbClr val="132747"/>
          </a:solidFill>
          <a:ln/>
        </p:spPr>
        <p:txBody>
          <a:bodyPr/>
          <a:p/>
        </p:txBody>
      </p:sp>
      <p:sp>
        <p:nvSpPr>
          <p:cNvPr id="26" name="Text 24"/>
          <p:cNvSpPr/>
          <p:nvPr/>
        </p:nvSpPr>
        <p:spPr>
          <a:xfrm>
            <a:off x="804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30" name="Shape 28"/>
          <p:cNvSpPr/>
          <p:nvPr/>
        </p:nvSpPr>
        <p:spPr>
          <a:xfrm>
            <a:off x="6519672" y="5559552"/>
            <a:ext cx="768096" cy="768096"/>
          </a:xfrm>
          <a:prstGeom prst="ellipse">
            <a:avLst/>
          </a:prstGeom>
          <a:solidFill>
            <a:srgbClr val="132747"/>
          </a:solidFill>
          <a:ln/>
        </p:spPr>
        <p:txBody>
          <a:bodyPr/>
          <a:p/>
        </p:txBody>
      </p:sp>
      <p:sp>
        <p:nvSpPr>
          <p:cNvPr id="31" name="Text 29"/>
          <p:cNvSpPr/>
          <p:nvPr/>
        </p:nvSpPr>
        <p:spPr>
          <a:xfrm>
            <a:off x="6519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indent="0" marL="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indent="0" marL="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sx="100000" sy="100000" kx="0" ky="0" algn="bl" rotWithShape="0" blurRad="101600" dist="38100" dir="5400000">
              <a:srgbClr val="000000">
                <a:alpha val="15000"/>
              </a:srgbClr>
            </a:outerShdw>
          </a:effectLst>
        </p:spPr>
        <p:txBody>
          <a:bodyPr/>
          <a:p/>
        </p:txBody>
      </p:sp>
      <p:sp>
        <p:nvSpPr>
          <p:cNvPr id="7" name="Text 5"/>
          <p:cNvSpPr/>
          <p:nvPr/>
        </p:nvSpPr>
        <p:spPr>
          <a:xfrm>
            <a:off x="6309360" y="182880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sx="100000" sy="100000" kx="0" ky="0" algn="bl" rotWithShape="0" blurRad="101600" dist="38100" dir="5400000">
              <a:srgbClr val="000000">
                <a:alpha val="15000"/>
              </a:srgbClr>
            </a:outerShdw>
          </a:effectLst>
        </p:spPr>
        <p:txBody>
          <a:bodyPr/>
          <a:p/>
        </p:txBody>
      </p:sp>
      <p:sp>
        <p:nvSpPr>
          <p:cNvPr id="10" name="Text 8"/>
          <p:cNvSpPr/>
          <p:nvPr/>
        </p:nvSpPr>
        <p:spPr>
          <a:xfrm>
            <a:off x="6309360" y="356616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sx="100000" sy="100000" kx="0" ky="0" algn="bl" rotWithShape="0" blurRad="101600" dist="38100" dir="5400000">
              <a:srgbClr val="000000">
                <a:alpha val="15000"/>
              </a:srgbClr>
            </a:outerShdw>
          </a:effectLst>
        </p:spPr>
        <p:txBody>
          <a:bodyPr/>
          <a:p/>
        </p:txBody>
      </p:sp>
      <p:sp>
        <p:nvSpPr>
          <p:cNvPr id="13" name="Text 11"/>
          <p:cNvSpPr/>
          <p:nvPr/>
        </p:nvSpPr>
        <p:spPr>
          <a:xfrm>
            <a:off x="6309360" y="530352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p/>
        </p:txBody>
      </p:sp>
      <p:sp>
        <p:nvSpPr>
          <p:cNvPr id="5" name="Text 3"/>
          <p:cNvSpPr/>
          <p:nvPr/>
        </p:nvSpPr>
        <p:spPr>
          <a:xfrm>
            <a:off x="54864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p/>
        </p:txBody>
      </p:sp>
      <p:sp>
        <p:nvSpPr>
          <p:cNvPr id="8" name="Text 6"/>
          <p:cNvSpPr/>
          <p:nvPr/>
        </p:nvSpPr>
        <p:spPr>
          <a:xfrm>
            <a:off x="425196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p/>
        </p:txBody>
      </p:sp>
      <p:sp>
        <p:nvSpPr>
          <p:cNvPr id="11" name="Text 9"/>
          <p:cNvSpPr/>
          <p:nvPr/>
        </p:nvSpPr>
        <p:spPr>
          <a:xfrm>
            <a:off x="795528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indent="0" marL="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p/>
        </p:txBody>
      </p:sp>
      <p:sp>
        <p:nvSpPr>
          <p:cNvPr id="15" name="Text 13"/>
          <p:cNvSpPr/>
          <p:nvPr/>
        </p:nvSpPr>
        <p:spPr>
          <a:xfrm>
            <a:off x="84124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p/>
        </p:txBody>
      </p:sp>
      <p:sp>
        <p:nvSpPr>
          <p:cNvPr id="17" name="Text 15"/>
          <p:cNvSpPr/>
          <p:nvPr/>
        </p:nvSpPr>
        <p:spPr>
          <a:xfrm>
            <a:off x="641908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p/>
        </p:txBody>
      </p:sp>
      <p:sp>
        <p:nvSpPr>
          <p:cNvPr id="19" name="Text 17"/>
          <p:cNvSpPr/>
          <p:nvPr/>
        </p:nvSpPr>
        <p:spPr>
          <a:xfrm>
            <a:off x="84124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p/>
        </p:txBody>
      </p:sp>
      <p:sp>
        <p:nvSpPr>
          <p:cNvPr id="21" name="Text 19"/>
          <p:cNvSpPr/>
          <p:nvPr/>
        </p:nvSpPr>
        <p:spPr>
          <a:xfrm>
            <a:off x="641908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5" name="Text 3"/>
          <p:cNvSpPr/>
          <p:nvPr/>
        </p:nvSpPr>
        <p:spPr>
          <a:xfrm>
            <a:off x="54864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9" name="Text 7"/>
          <p:cNvSpPr/>
          <p:nvPr/>
        </p:nvSpPr>
        <p:spPr>
          <a:xfrm>
            <a:off x="434340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sx="100000" sy="100000" kx="0" ky="0" algn="bl" rotWithShape="0" blurRad="127000" dist="50800" dir="5400000">
              <a:srgbClr val="000000">
                <a:alpha val="22000"/>
              </a:srgbClr>
            </a:outerShdw>
          </a:effectLst>
        </p:spPr>
        <p:txBody>
          <a:bodyPr/>
          <a:p/>
        </p:txBody>
      </p:sp>
      <p:sp>
        <p:nvSpPr>
          <p:cNvPr id="13" name="Text 11"/>
          <p:cNvSpPr/>
          <p:nvPr/>
        </p:nvSpPr>
        <p:spPr>
          <a:xfrm>
            <a:off x="8138160" y="2148840"/>
            <a:ext cx="3566160" cy="365760"/>
          </a:xfrm>
          <a:prstGeom prst="rect">
            <a:avLst/>
          </a:prstGeom>
          <a:noFill/>
          <a:ln/>
        </p:spPr>
        <p:txBody>
          <a:bodyPr wrap="square" rtlCol="0" anchor="ctr"/>
          <a:lstStyle/>
          <a:p>
            <a:pPr algn="ctr" indent="0" marL="0">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r>
          <p:cNvPicPr>
            <a:picLocks noChangeAspect="1"/>
          </p:cNvPicPr>
          <p:nvPr/>
        </p:nvPicPr>
        <p:blipFill>
          <a:blip r:embed="rId1"/>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indent="0" marL="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6" name="Shape 4"/>
          <p:cNvSpPr/>
          <p:nvPr/>
        </p:nvSpPr>
        <p:spPr>
          <a:xfrm>
            <a:off x="749808" y="2350008"/>
            <a:ext cx="548640" cy="548640"/>
          </a:xfrm>
          <a:prstGeom prst="ellipse">
            <a:avLst/>
          </a:prstGeom>
          <a:solidFill>
            <a:srgbClr val="132747"/>
          </a:solidFill>
          <a:ln/>
        </p:spPr>
        <p:txBody>
          <a:bodyPr/>
          <a:p/>
        </p:txBody>
      </p:sp>
      <p:sp>
        <p:nvSpPr>
          <p:cNvPr id="7" name="Text 5"/>
          <p:cNvSpPr/>
          <p:nvPr/>
        </p:nvSpPr>
        <p:spPr>
          <a:xfrm>
            <a:off x="74980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1" name="Shape 9"/>
          <p:cNvSpPr/>
          <p:nvPr/>
        </p:nvSpPr>
        <p:spPr>
          <a:xfrm>
            <a:off x="4498848" y="2350008"/>
            <a:ext cx="548640" cy="548640"/>
          </a:xfrm>
          <a:prstGeom prst="ellipse">
            <a:avLst/>
          </a:prstGeom>
          <a:solidFill>
            <a:srgbClr val="132747"/>
          </a:solidFill>
          <a:ln/>
        </p:spPr>
        <p:txBody>
          <a:bodyPr/>
          <a:p/>
        </p:txBody>
      </p:sp>
      <p:sp>
        <p:nvSpPr>
          <p:cNvPr id="12" name="Text 10"/>
          <p:cNvSpPr/>
          <p:nvPr/>
        </p:nvSpPr>
        <p:spPr>
          <a:xfrm>
            <a:off x="449884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6" name="Shape 14"/>
          <p:cNvSpPr/>
          <p:nvPr/>
        </p:nvSpPr>
        <p:spPr>
          <a:xfrm>
            <a:off x="8247888" y="2350008"/>
            <a:ext cx="548640" cy="548640"/>
          </a:xfrm>
          <a:prstGeom prst="ellipse">
            <a:avLst/>
          </a:prstGeom>
          <a:solidFill>
            <a:srgbClr val="132747"/>
          </a:solidFill>
          <a:ln/>
        </p:spPr>
        <p:txBody>
          <a:bodyPr/>
          <a:p/>
        </p:txBody>
      </p:sp>
      <p:sp>
        <p:nvSpPr>
          <p:cNvPr id="17" name="Text 15"/>
          <p:cNvSpPr/>
          <p:nvPr/>
        </p:nvSpPr>
        <p:spPr>
          <a:xfrm>
            <a:off x="824788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1" name="Shape 19"/>
          <p:cNvSpPr/>
          <p:nvPr/>
        </p:nvSpPr>
        <p:spPr>
          <a:xfrm>
            <a:off x="749808" y="4498848"/>
            <a:ext cx="548640" cy="548640"/>
          </a:xfrm>
          <a:prstGeom prst="ellipse">
            <a:avLst/>
          </a:prstGeom>
          <a:solidFill>
            <a:srgbClr val="132747"/>
          </a:solidFill>
          <a:ln/>
        </p:spPr>
        <p:txBody>
          <a:bodyPr/>
          <a:p/>
        </p:txBody>
      </p:sp>
      <p:sp>
        <p:nvSpPr>
          <p:cNvPr id="22" name="Text 20"/>
          <p:cNvSpPr/>
          <p:nvPr/>
        </p:nvSpPr>
        <p:spPr>
          <a:xfrm>
            <a:off x="74980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6" name="Shape 24"/>
          <p:cNvSpPr/>
          <p:nvPr/>
        </p:nvSpPr>
        <p:spPr>
          <a:xfrm>
            <a:off x="4498848" y="4498848"/>
            <a:ext cx="548640" cy="548640"/>
          </a:xfrm>
          <a:prstGeom prst="ellipse">
            <a:avLst/>
          </a:prstGeom>
          <a:solidFill>
            <a:srgbClr val="132747"/>
          </a:solidFill>
          <a:ln/>
        </p:spPr>
        <p:txBody>
          <a:bodyPr/>
          <a:p/>
        </p:txBody>
      </p:sp>
      <p:sp>
        <p:nvSpPr>
          <p:cNvPr id="27" name="Text 25"/>
          <p:cNvSpPr/>
          <p:nvPr/>
        </p:nvSpPr>
        <p:spPr>
          <a:xfrm>
            <a:off x="449884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5" name="Shape 3"/>
          <p:cNvSpPr/>
          <p:nvPr/>
        </p:nvSpPr>
        <p:spPr>
          <a:xfrm>
            <a:off x="1467612" y="2423160"/>
            <a:ext cx="768096" cy="768096"/>
          </a:xfrm>
          <a:prstGeom prst="ellipse">
            <a:avLst/>
          </a:prstGeom>
          <a:solidFill>
            <a:srgbClr val="1C7293"/>
          </a:solidFill>
          <a:ln/>
        </p:spPr>
        <p:txBody>
          <a:bodyPr/>
          <a:p/>
        </p:txBody>
      </p:sp>
      <p:sp>
        <p:nvSpPr>
          <p:cNvPr id="6" name="Text 4"/>
          <p:cNvSpPr/>
          <p:nvPr/>
        </p:nvSpPr>
        <p:spPr>
          <a:xfrm>
            <a:off x="1467612"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1" name="Shape 9"/>
          <p:cNvSpPr/>
          <p:nvPr/>
        </p:nvSpPr>
        <p:spPr>
          <a:xfrm>
            <a:off x="4329684" y="2423160"/>
            <a:ext cx="768096" cy="768096"/>
          </a:xfrm>
          <a:prstGeom prst="ellipse">
            <a:avLst/>
          </a:prstGeom>
          <a:solidFill>
            <a:srgbClr val="1C7293"/>
          </a:solidFill>
          <a:ln/>
        </p:spPr>
        <p:txBody>
          <a:bodyPr/>
          <a:p/>
        </p:txBody>
      </p:sp>
      <p:sp>
        <p:nvSpPr>
          <p:cNvPr id="12" name="Text 10"/>
          <p:cNvSpPr/>
          <p:nvPr/>
        </p:nvSpPr>
        <p:spPr>
          <a:xfrm>
            <a:off x="4329684"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7" name="Shape 15"/>
          <p:cNvSpPr/>
          <p:nvPr/>
        </p:nvSpPr>
        <p:spPr>
          <a:xfrm>
            <a:off x="7191756" y="2423160"/>
            <a:ext cx="768096" cy="768096"/>
          </a:xfrm>
          <a:prstGeom prst="ellipse">
            <a:avLst/>
          </a:prstGeom>
          <a:solidFill>
            <a:srgbClr val="1C7293"/>
          </a:solidFill>
          <a:ln/>
        </p:spPr>
        <p:txBody>
          <a:bodyPr/>
          <a:p/>
        </p:txBody>
      </p:sp>
      <p:sp>
        <p:nvSpPr>
          <p:cNvPr id="18" name="Text 16"/>
          <p:cNvSpPr/>
          <p:nvPr/>
        </p:nvSpPr>
        <p:spPr>
          <a:xfrm>
            <a:off x="7191756"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23" name="Shape 21"/>
          <p:cNvSpPr/>
          <p:nvPr/>
        </p:nvSpPr>
        <p:spPr>
          <a:xfrm>
            <a:off x="10053828" y="2423160"/>
            <a:ext cx="768096" cy="768096"/>
          </a:xfrm>
          <a:prstGeom prst="ellipse">
            <a:avLst/>
          </a:prstGeom>
          <a:solidFill>
            <a:srgbClr val="1C7293"/>
          </a:solidFill>
          <a:ln/>
        </p:spPr>
        <p:txBody>
          <a:bodyPr/>
          <a:p/>
        </p:txBody>
      </p:sp>
      <p:sp>
        <p:nvSpPr>
          <p:cNvPr id="24" name="Text 22"/>
          <p:cNvSpPr/>
          <p:nvPr/>
        </p:nvSpPr>
        <p:spPr>
          <a:xfrm>
            <a:off x="10053828"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Hàm thành viên thực tế (fit trên tập Train)</a:t>
            </a:r>
            <a:endParaRPr lang="en-US" sz="3200" dirty="0"/>
          </a:p>
        </p:txBody>
      </p:sp>
      <p:pic>
        <p:nvPicPr>
          <p:cNvPr id="4" name="Image 0" descr="D:/06.BT/MachineLearningAdvance/CuoiKy/BaoCao_Assets/hinh2_membership_functions.png">    </p:cNvPr>
          <p:cNvPicPr>
            <a:picLocks noChangeAspect="1"/>
          </p:cNvPicPr>
          <p:nvPr/>
        </p:nvPicPr>
        <p:blipFill>
          <a:blip r:embed="rId1"/>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gridCol w="8138160"/>
                <a:gridCol w="2011680"/>
              </a:tblGrid>
              <a:tr h="5181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r>
          <p:cNvPicPr>
            <a:picLocks noChangeAspect="1"/>
          </p:cNvPicPr>
          <p:nvPr/>
        </p:nvPicPr>
        <p:blipFill>
          <a:blip r:embed="rId1"/>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p/>
        </p:txBody>
      </p:sp>
      <p:sp>
        <p:nvSpPr>
          <p:cNvPr id="6" name="Text 3"/>
          <p:cNvSpPr/>
          <p:nvPr/>
        </p:nvSpPr>
        <p:spPr>
          <a:xfrm>
            <a:off x="7115203" y="2743200"/>
            <a:ext cx="4525109" cy="82296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Kiến trúc mạng MLP (bộ phân loại)</a:t>
            </a:r>
            <a:endParaRPr lang="en-US" sz="3200" dirty="0"/>
          </a:p>
        </p:txBody>
      </p:sp>
      <p:pic>
        <p:nvPicPr>
          <p:cNvPr id="4" name="Image 0" descr="D:/06.BT/MachineLearningAdvance/CuoiKy/BaoCao_Assets/hinh4_kien_truc_mlp.png">    </p:cNvPr>
          <p:cNvPicPr>
            <a:picLocks noChangeAspect="1"/>
          </p:cNvPicPr>
          <p:nvPr/>
        </p:nvPicPr>
        <p:blipFill>
          <a:blip r:embed="rId1"/>
          <a:stretch>
            <a:fillRect/>
          </a:stretch>
        </p:blipFill>
        <p:spPr>
          <a:xfrm>
            <a:off x="1730707" y="1737360"/>
            <a:ext cx="8727539" cy="493776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Chiến lược huấn luyện</a:t>
            </a:r>
            <a:endParaRPr lang="en-US" sz="3200" dirty="0"/>
          </a:p>
        </p:txBody>
      </p:sp>
      <p:sp>
        <p:nvSpPr>
          <p:cNvPr id="4" name="Shape 2"/>
          <p:cNvSpPr/>
          <p:nvPr/>
        </p:nvSpPr>
        <p:spPr>
          <a:xfrm>
            <a:off x="548640" y="1783080"/>
            <a:ext cx="11064240" cy="841248"/>
          </a:xfrm>
          <a:prstGeom prst="roundRect">
            <a:avLst>
              <a:gd name="adj" fmla="val 8696"/>
            </a:avLst>
          </a:prstGeom>
          <a:solidFill>
            <a:srgbClr val="FFFFFF"/>
          </a:solidFill>
          <a:ln w="12700">
            <a:solidFill>
              <a:srgbClr val="E1E0D9"/>
            </a:solidFill>
            <a:prstDash val="solid"/>
          </a:ln>
        </p:spPr>
        <p:txBody>
          <a:bodyPr/>
          <a:p/>
        </p:txBody>
      </p:sp>
      <p:sp>
        <p:nvSpPr>
          <p:cNvPr id="5" name="Shape 3"/>
          <p:cNvSpPr/>
          <p:nvPr/>
        </p:nvSpPr>
        <p:spPr>
          <a:xfrm>
            <a:off x="777240" y="1929384"/>
            <a:ext cx="548640" cy="548640"/>
          </a:xfrm>
          <a:prstGeom prst="ellipse">
            <a:avLst/>
          </a:prstGeom>
          <a:solidFill>
            <a:srgbClr val="1C7293"/>
          </a:solidFill>
          <a:ln/>
        </p:spPr>
        <p:txBody>
          <a:bodyPr/>
          <a:p/>
        </p:txBody>
      </p:sp>
      <p:sp>
        <p:nvSpPr>
          <p:cNvPr id="6" name="Text 4"/>
          <p:cNvSpPr/>
          <p:nvPr/>
        </p:nvSpPr>
        <p:spPr>
          <a:xfrm>
            <a:off x="777240" y="1929384"/>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7" name="Text 5"/>
          <p:cNvSpPr/>
          <p:nvPr/>
        </p:nvSpPr>
        <p:spPr>
          <a:xfrm>
            <a:off x="1600200" y="1856232"/>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Xử lý mất cân bằng</a:t>
            </a:r>
            <a:endParaRPr lang="en-US" sz="1400" dirty="0"/>
          </a:p>
        </p:txBody>
      </p:sp>
      <p:sp>
        <p:nvSpPr>
          <p:cNvPr id="8" name="Text 6"/>
          <p:cNvSpPr/>
          <p:nvPr/>
        </p:nvSpPr>
        <p:spPr>
          <a:xfrm>
            <a:off x="4480560" y="1856232"/>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BCEWithLogitsLoss với pos_weight = n_âm / n_dương (chỉ ~3% mẫu dương)</a:t>
            </a:r>
            <a:endParaRPr lang="en-US" sz="1250" dirty="0"/>
          </a:p>
        </p:txBody>
      </p:sp>
      <p:sp>
        <p:nvSpPr>
          <p:cNvPr id="9" name="Shape 7"/>
          <p:cNvSpPr/>
          <p:nvPr/>
        </p:nvSpPr>
        <p:spPr>
          <a:xfrm>
            <a:off x="548640" y="2752344"/>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0" name="Shape 8"/>
          <p:cNvSpPr/>
          <p:nvPr/>
        </p:nvSpPr>
        <p:spPr>
          <a:xfrm>
            <a:off x="777240" y="2898648"/>
            <a:ext cx="548640" cy="548640"/>
          </a:xfrm>
          <a:prstGeom prst="ellipse">
            <a:avLst/>
          </a:prstGeom>
          <a:solidFill>
            <a:srgbClr val="1C7293"/>
          </a:solidFill>
          <a:ln/>
        </p:spPr>
        <p:txBody>
          <a:bodyPr/>
          <a:p/>
        </p:txBody>
      </p:sp>
      <p:sp>
        <p:nvSpPr>
          <p:cNvPr id="11" name="Text 9"/>
          <p:cNvSpPr/>
          <p:nvPr/>
        </p:nvSpPr>
        <p:spPr>
          <a:xfrm>
            <a:off x="777240" y="2898648"/>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1600200" y="2825496"/>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tối ưu (Optimizer)</a:t>
            </a:r>
            <a:endParaRPr lang="en-US" sz="1400" dirty="0"/>
          </a:p>
        </p:txBody>
      </p:sp>
      <p:sp>
        <p:nvSpPr>
          <p:cNvPr id="13" name="Text 11"/>
          <p:cNvSpPr/>
          <p:nvPr/>
        </p:nvSpPr>
        <p:spPr>
          <a:xfrm>
            <a:off x="4480560" y="2825496"/>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Adam (learning rate = 1e-3, weight decay = 1e-5)</a:t>
            </a:r>
            <a:endParaRPr lang="en-US" sz="1250" dirty="0"/>
          </a:p>
        </p:txBody>
      </p:sp>
      <p:sp>
        <p:nvSpPr>
          <p:cNvPr id="14" name="Shape 12"/>
          <p:cNvSpPr/>
          <p:nvPr/>
        </p:nvSpPr>
        <p:spPr>
          <a:xfrm>
            <a:off x="548640" y="3721608"/>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5" name="Shape 13"/>
          <p:cNvSpPr/>
          <p:nvPr/>
        </p:nvSpPr>
        <p:spPr>
          <a:xfrm>
            <a:off x="777240" y="3867912"/>
            <a:ext cx="548640" cy="548640"/>
          </a:xfrm>
          <a:prstGeom prst="ellipse">
            <a:avLst/>
          </a:prstGeom>
          <a:solidFill>
            <a:srgbClr val="1C7293"/>
          </a:solidFill>
          <a:ln/>
        </p:spPr>
        <p:txBody>
          <a:bodyPr/>
          <a:p/>
        </p:txBody>
      </p:sp>
      <p:sp>
        <p:nvSpPr>
          <p:cNvPr id="16" name="Text 14"/>
          <p:cNvSpPr/>
          <p:nvPr/>
        </p:nvSpPr>
        <p:spPr>
          <a:xfrm>
            <a:off x="777240" y="3867912"/>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1600200" y="3794760"/>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điều chỉnh LR (Scheduler)</a:t>
            </a:r>
            <a:endParaRPr lang="en-US" sz="1400" dirty="0"/>
          </a:p>
        </p:txBody>
      </p:sp>
      <p:sp>
        <p:nvSpPr>
          <p:cNvPr id="18" name="Text 16"/>
          <p:cNvSpPr/>
          <p:nvPr/>
        </p:nvSpPr>
        <p:spPr>
          <a:xfrm>
            <a:off x="4480560" y="3794760"/>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ReduceLROnPlateau — giảm nửa LR nếu Val AUPRC không cải thiện sau 2 epoch</a:t>
            </a:r>
            <a:endParaRPr lang="en-US" sz="1250" dirty="0"/>
          </a:p>
        </p:txBody>
      </p:sp>
      <p:sp>
        <p:nvSpPr>
          <p:cNvPr id="19" name="Shape 17"/>
          <p:cNvSpPr/>
          <p:nvPr/>
        </p:nvSpPr>
        <p:spPr>
          <a:xfrm>
            <a:off x="548640" y="4690872"/>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0" name="Shape 18"/>
          <p:cNvSpPr/>
          <p:nvPr/>
        </p:nvSpPr>
        <p:spPr>
          <a:xfrm>
            <a:off x="777240" y="4837176"/>
            <a:ext cx="548640" cy="548640"/>
          </a:xfrm>
          <a:prstGeom prst="ellipse">
            <a:avLst/>
          </a:prstGeom>
          <a:solidFill>
            <a:srgbClr val="1C7293"/>
          </a:solidFill>
          <a:ln/>
        </p:spPr>
        <p:txBody>
          <a:bodyPr/>
          <a:p/>
        </p:txBody>
      </p:sp>
      <p:sp>
        <p:nvSpPr>
          <p:cNvPr id="21" name="Text 19"/>
          <p:cNvSpPr/>
          <p:nvPr/>
        </p:nvSpPr>
        <p:spPr>
          <a:xfrm>
            <a:off x="777240" y="4837176"/>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1600200" y="4764024"/>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Dừng sớm (Early stopping)</a:t>
            </a:r>
            <a:endParaRPr lang="en-US" sz="1400" dirty="0"/>
          </a:p>
        </p:txBody>
      </p:sp>
      <p:sp>
        <p:nvSpPr>
          <p:cNvPr id="23" name="Text 21"/>
          <p:cNvSpPr/>
          <p:nvPr/>
        </p:nvSpPr>
        <p:spPr>
          <a:xfrm>
            <a:off x="4480560" y="4764024"/>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Dừng nếu Val AUPRC không cải thiện sau 5 epoch (tối đa 30 epoch)</a:t>
            </a:r>
            <a:endParaRPr lang="en-US" sz="1250" dirty="0"/>
          </a:p>
        </p:txBody>
      </p:sp>
      <p:sp>
        <p:nvSpPr>
          <p:cNvPr id="24" name="Shape 22"/>
          <p:cNvSpPr/>
          <p:nvPr/>
        </p:nvSpPr>
        <p:spPr>
          <a:xfrm>
            <a:off x="548640" y="5660136"/>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5" name="Shape 23"/>
          <p:cNvSpPr/>
          <p:nvPr/>
        </p:nvSpPr>
        <p:spPr>
          <a:xfrm>
            <a:off x="777240" y="5806440"/>
            <a:ext cx="548640" cy="548640"/>
          </a:xfrm>
          <a:prstGeom prst="ellipse">
            <a:avLst/>
          </a:prstGeom>
          <a:solidFill>
            <a:srgbClr val="1C7293"/>
          </a:solidFill>
          <a:ln/>
        </p:spPr>
        <p:txBody>
          <a:bodyPr/>
          <a:p/>
        </p:txBody>
      </p:sp>
      <p:sp>
        <p:nvSpPr>
          <p:cNvPr id="26" name="Text 24"/>
          <p:cNvSpPr/>
          <p:nvPr/>
        </p:nvSpPr>
        <p:spPr>
          <a:xfrm>
            <a:off x="777240" y="5806440"/>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7" name="Text 25"/>
          <p:cNvSpPr/>
          <p:nvPr/>
        </p:nvSpPr>
        <p:spPr>
          <a:xfrm>
            <a:off x="1600200" y="5733288"/>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Chia dữ liệu</a:t>
            </a:r>
            <a:endParaRPr lang="en-US" sz="1400" dirty="0"/>
          </a:p>
        </p:txBody>
      </p:sp>
      <p:sp>
        <p:nvSpPr>
          <p:cNvPr id="28" name="Text 26"/>
          <p:cNvSpPr/>
          <p:nvPr/>
        </p:nvSpPr>
        <p:spPr>
          <a:xfrm>
            <a:off x="4480560" y="5733288"/>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70% Train / 15% Validation / 15% Test, stratified theo nhãn</a:t>
            </a:r>
            <a:endParaRPr lang="en-US" sz="1250" dirty="0"/>
          </a:p>
        </p:txBody>
      </p:sp>
      <p:sp>
        <p:nvSpPr>
          <p:cNvPr id="29" name="Text 27"/>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Đánh giá trên tập Test (36.997 dòng)</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86.6%</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22.3%</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75.4%</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9.9%</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84.9%</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17.7%</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Recall cao (84.9%) — bắt được phần lớn tấn công thật.  Precision thấp (9.9%) — hệ quả của dữ liệu mất cân bằng (~3% dương) ở ngưỡng mặc định 0.5. Đổi ngưỡng theo F1 (0.823): Precision → 28.8%, F1 → 0.310.</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ABLATION STUDY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Ablation: đóng góp của đặc trưng mờ (Δ = MLP + Mamdani − MLP không fuzzy)</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+2.1%</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+7.5%</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−0.7%</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+2.7%</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≈0</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Δ = (MLP + Mamdani FIS) − (MLP không có đặc trưng mờ), cùng mẫu 246.600 dòng và cùng seed. Đặc trưng mờ cải thiện rõ nhất ở AUPRC (+7.5%) và Recall (+2.7%) — hai chỉ số quan trọng nhất với dữ liệu lệch lớp ~3%; Accuracy/Precision gần như không đổi. Kết luận: nhánh Mamdani đóng góp thực sự vào chất lượng xếp hạng rủi ro.</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r>
          <p:cNvPicPr>
            <a:picLocks noChangeAspect="1"/>
          </p:cNvPicPr>
          <p:nvPr/>
        </p:nvPicPr>
        <p:blipFill>
          <a:blip r:embed="rId1"/>
          <a:stretch>
            <a:fillRect/>
          </a:stretch>
        </p:blipFill>
        <p:spPr>
          <a:xfrm>
            <a:off x="502920" y="1965960"/>
            <a:ext cx="5394960" cy="1867486"/>
          </a:xfrm>
          <a:prstGeom prst="rect">
            <a:avLst/>
          </a:prstGeom>
        </p:spPr>
      </p:pic>
      <p:pic>
        <p:nvPicPr>
          <p:cNvPr id="5" name="Image 1" descr="D:/06.BT/MachineLearningAdvance/CuoiKy/rba_local_project/outputs/roc_pr_curves.png">    </p:cNvPr>
          <p:cNvPicPr>
            <a:picLocks noChangeAspect="1"/>
          </p:cNvPicPr>
          <p:nvPr/>
        </p:nvPicPr>
        <p:blipFill>
          <a:blip r:embed="rId2"/>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7" name="Text 3"/>
          <p:cNvSpPr/>
          <p:nvPr/>
        </p:nvSpPr>
        <p:spPr>
          <a:xfrm>
            <a:off x="777240" y="4544568"/>
            <a:ext cx="4572000" cy="36576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indent="0" marL="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0.866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p/>
        </p:txBody>
      </p:sp>
      <p:sp>
        <p:nvSpPr>
          <p:cNvPr id="5" name="Text 3"/>
          <p:cNvSpPr/>
          <p:nvPr/>
        </p:nvSpPr>
        <p:spPr>
          <a:xfrm>
            <a:off x="822960" y="1965960"/>
            <a:ext cx="4846320" cy="457200"/>
          </a:xfrm>
          <a:prstGeom prst="rect">
            <a:avLst/>
          </a:prstGeom>
          <a:noFill/>
          <a:ln/>
        </p:spPr>
        <p:txBody>
          <a:bodyPr wrap="square" rtlCol="0" anchor="ctr"/>
          <a:lstStyle/>
          <a:p>
            <a:pPr indent="0" marL="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p/>
        </p:txBody>
      </p:sp>
      <p:sp>
        <p:nvSpPr>
          <p:cNvPr id="8" name="Text 6"/>
          <p:cNvSpPr/>
          <p:nvPr/>
        </p:nvSpPr>
        <p:spPr>
          <a:xfrm>
            <a:off x="6537960" y="2011680"/>
            <a:ext cx="4846320" cy="640080"/>
          </a:xfrm>
          <a:prstGeom prst="rect">
            <a:avLst/>
          </a:prstGeom>
          <a:noFill/>
          <a:ln/>
        </p:spPr>
        <p:txBody>
          <a:bodyPr wrap="square" rtlCol="0" anchor="ctr"/>
          <a:lstStyle/>
          <a:p>
            <a:pPr indent="0" marL="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p/>
        </p:txBody>
      </p:sp>
      <p:sp>
        <p:nvSpPr>
          <p:cNvPr id="3" name="Text 1"/>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indent="0" marL="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0.866 và Recall 84.9%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p/>
        </p:txBody>
      </p:sp>
      <p:sp>
        <p:nvSpPr>
          <p:cNvPr id="3" name="Text 1"/>
          <p:cNvSpPr/>
          <p:nvPr/>
        </p:nvSpPr>
        <p:spPr>
          <a:xfrm>
            <a:off x="822960" y="2651760"/>
            <a:ext cx="9601200" cy="1645920"/>
          </a:xfrm>
          <a:prstGeom prst="rect">
            <a:avLst/>
          </a:prstGeom>
          <a:noFill/>
          <a:ln/>
        </p:spPr>
        <p:txBody>
          <a:bodyPr wrap="square"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2026-07-22T03:57:50Z</dcterms:created>
  <dcterms:modified xsi:type="dcterms:W3CDTF">2026-07-22T03:57:50Z</dcterms:modified>
</cp:coreProperties>
</file>