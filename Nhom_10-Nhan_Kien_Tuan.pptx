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2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mở đầu — giới thiệu đề tài: phát hiện đăng nhập rủi ro (RBA) bằng mô hình lai MLP kết hợp hệ mờ Mamdani. Giới thiệu nhóm và lớp. Lưu ý: nhấn mạnh đây là bài toán bảo mật thực tế, kết hợp học máy (MLP) với tri thức chuyên gia (luật mờ).</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Nêu mạch trình bày gồm 6 phần: (1) bài toán RBA, (2) kiến trúc hệ thống, (3) hệ mờ Mamdani, (4) mạng MLP, (5) kết quả thực nghiệm, (6) hạn chế &amp; kết luận. Lưu ý: đi nhanh slide này, chỉ giới thiệu bố cục.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RBA: thay vì chỉ kiểm tra đúng/sai mật khẩu, hệ thống chấm điểm rủi ro cho mỗi lượt đăng nhập dựa trên ngữ cảnh (vị trí, thiết bị, nhà mạng, thời điểm, lịch sử hành vi). Rủi ro thấp → cho qua; rủi ro cao → yêu cầu xác thực thêm (OTP/2FA). Mục tiêu đồ án: dự đoán xác suất một lượt đăng nhập đến từ IP tấn công, trên 500.000 dòng log thật. Lưu ý: nhấn mạnh RBA cân bằng giữa an toàn và trải nghiệm người dùng.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Bộ dữ liệu khoảng 500.000 lượt đăng nhập, chỉ ~3% là tấn công (mất cân bằng nặng), 16 cột thô. Nguồn: Login Data Set for RBA (Wiefling và cộng sự) — log thật đã ẩn danh. Các cột gồm thời gian, User ID, RTT, vị trí (Country/City/ASN), thiết bị/trình duyệt/OS và các nhãn. Lưu ý: nhấn tỉ lệ ~3% dương là mấu chốt khiến bài toán khó và cần xử lý mất cân bằng.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lý do chọn nhãn Is Attack IP: Is Account Takeover chỉ có ~4 mẫu dương trên 500.000 dòng (quá ít để học); Login Successful chỉ phản ánh lỗi kỹ thuật, không phải rủi ro bảo mật; Is Attack IP có ~3% dương — đủ dữ liệu và đúng bản chất bài toán chấm rủi ro. Lưu ý: đây là một quyết định quan trọng về dữ liệu, nên giải thích rõ.</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chuyển phần — giới thiệu kiến trúc mô hình lai MLP + Mamdani Fuzzy (xem sơ đồ tổng thể). Lưu ý: nhấn ý tưởng cốt lõi — hệ mờ tạo ra đặc trưng rủi ro, MLP dùng làm bộ phân loại; hai phần kết hợp ở TẦNG ĐẶC TRƯNG, không phải chạy song song để so sánh.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Trình bày 5 nhóm đặc trưng: thời gian, mạng (RTT), độ hiếm toàn cục Country/ASN, lịch sử người dùng, và thiết bị (mã hóa one-hot). Điểm kỹ thuật quan trọng: đặc trưng lịch sử chỉ dùng thông tin TRƯỚC ĐÓ của người dùng (dịch theo thời gian) để tránh rò rỉ dữ liệu (data leakage). Lưu ý: giám khảo hay hỏi về leakage — nên nhấn chỗ này.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4 bước suy diễn mờ Mamdani: (1) Mờ hóa — đưa 5 biến về mức Low/Medium/High bằng hàm tam giác, ngưỡng lấy từ phân vị trên tập train; (2) Đánh giá luật — 8 luật IF-THEN, AND = min, OR = max; (3) Gộp mờ — gộp 3 tập mờ đầu ra bằng phép max; (4) Giải mờ — dùng centroid để ra 1 điểm rủi ro duy nhất trong [0,1]. Lưu ý: đây là thuật toán cốt lõi, nên giải thích chậm và kỹ.</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 xem các hàm thành viên thực tế (fit trên 500.000 dòng train): mỗi biến chia Low/Medium/High bằng hàm tam giác, ngưỡng lấy từ phân vị 20/50/80. Lưu ý: nhấn rằng ngưỡng được HỌC TỪ dữ liệu train chứ không đặt tùy tiện, và min/max cũng lấy từ train để tránh lệch khi suy luận.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Giải thích bảng 8 luật IF-THEN mã hóa tri thức chuyên gia: R1–R4 đẩy về High (quốc gia/ASN mới, tỉ lệ thành công thấp, nhiều thay đổi, ASN hiếm); R5–R6 kéo về Low; R7–R8 giữ Medium. Lưu ý: thiết kế bất đối xứng có chủ đích — nhiều luật High hơn vì bảo mật ưu tiên phát hiện rủi ro.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Chạy một ví dụ cụ thể (mẫu rủi ro cao) qua 4 bước → điểm centroid = 0.839 (rủi ro cao). Luật R4 (asn_rarity ≈ 0.943) và R2 (tỉ lệ thành công thấp) kích hoạt mạnh nhất, kéo điểm lên cao. Lưu ý: dùng ví dụ số cụ thể để cho thấy hệ mờ ra quyết định như thế nào.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Trình bày kiến trúc MLP: đầu vào khoảng 39 chiều (19 đặc trưng số + one-hot Device Type + 16 đặc trưng mờ) → 3 tầng ẩn 128–64–32 (Linear + ReLU + BatchNorm + Dropout 0.3) → 1 logit → sigmoid ra xác suất. Lưu ý: nhấn 16 đặc trưng mờ từ Mamdani được đưa THẲNG vào MLP làm đầu vào.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Năm kỹ thuật huấn luyện: (1) xử lý mất cân bằng bằng BCEWithLogitsLoss với pos_weight = số âm/số dương; (2) tối ưu Adam, lr = 1e-3; (3) ReduceLROnPlateau giảm LR khi Val AUPRC chững; (4) dừng sớm theo Val AUPRC; (5) chia 70/15/15 phân tầng theo nhãn. Lưu ý: chọn mô hình tốt nhất theo AUPRC (không phải Accuracy) vì dữ liệu mất cân bằng.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quả trên tập test 36.997 dòng: AUROC 86.6%, AUPRC 22.3%, Accuracy 75.4%, Precision 9.9%, Recall 84.9%, F1 17.7%. Recall cao = bắt được phần lớn tấn công; Precision thấp = nhiều báo động giả do mất cân bằng ở ngưỡng 0.5. Lưu ý: nhấn AUPRC (so với baseline ngẫu nhiên ~3%) mới phản ánh chất lượng thật; Accuracy dễ gây hiểu nhầm với dữ liệu lệch lớp.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Phân tích biểu đồ: train loss giảm ổn định, Val AUPRC/AUROC hội tụ trước epoch 30 (early stopping kích hoạt) → mô hình không overfitting. Đường Precision-Recall thấp hơn ROC nhiều — đúng đặc trưng bài toán chỉ ~3% dương. Lưu ý: dùng đường cong để chứng minh mô hình học ổn định và AUPRC mới là thước đo khó.</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Đã phát hiện và khắc phục 2 lỗi: (1) hàm xmin/xmax trong hệ mờ từng tính lại theo từng batch (méo kết quả khi suy luận 1 dòng) — đã lưu cố định từ fit(); (2) rò rỉ thống kê toàn cục (median RTT, độ hiếm Country/ASN) trước đây tính trên cả val/test — đã sửa để chỉ fit trên train và huấn luyện lại. Hạn chế còn lại: Precision thấp; 8 luật mờ thiết kế thủ công. Hướng phát triển: Focal Loss, chọn ngưỡng theo chi phí, hoặc ANFIS. Lưu ý: nêu 2 lỗi tự phát hiện để thể hiện hiểu sâu và trung thực.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Kết luận: hệ lai MLP + Mamdani — tri thức chuyên gia (8 luật IF-THEN) và học sâu bổ trợ lẫn nhau. Trên 500.000 lượt đăng nhập thật, mô hình đạt AUROC 0.866 và Recall 84.9%, phát hiện được phần lớn tấn công; đánh đổi báo động giả có thể điều chỉnh qua ngưỡng quyết định. Lưu ý: nhấn đóng góp và tính GIẢI THÍCH ĐƯỢC của mô hình.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cảm ơn và mời câu hỏi. Lưu ý: chuẩn bị sẵn câu trả lời cho các câu hỏi thường gặp — vì sao Precision thấp, cách chống data leakage, vì sao chọn Mamdani thay vì mô hình khác, ý nghĩa AUPRC.</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ablation — chứng minh nhánh mờ có đóng góp. Ta huấn luyện lại đúng kiến trúc, cách chia và seed nhưng BỎ 16 đặc trưng mờ, rồi so với mô hình đầy đủ trên cùng mẫu 246.600 dòng. Δ = (có mờ) − (không mờ): AUPRC +7.5%, Recall +2.7%, AUROC +2.1% (tăng rõ ở các chỉ số quan trọng với dữ liệu lệch lớp), Accuracy/Precision gần như không đổi. Lưu ý: nhấn rằng đặc trưng mờ là hàm phi tuyến tường minh của cùng biến thô — MLP có thể tự học một phần, nhưng mã hoá sẵn tri thức 8 luật giúp hội tụ tới tín hiệu rủi ro tốt hơn. Đây là bằng chứng định lượng cho câu hỏi 'phần mờ có thực sự cần thiết không?'.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5F7F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0B1A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A30"/>
          </a:solidFill>
          <a:ln/>
        </p:spPr>
        <p:txBody>
          <a:bodyPr/>
          <a:p/>
        </p:txBody>
      </p:sp>
      <p:sp>
        <p:nvSpPr>
          <p:cNvPr id="3" name="Shape 1"/>
          <p:cNvSpPr/>
          <p:nvPr/>
        </p:nvSpPr>
        <p:spPr>
          <a:xfrm>
            <a:off x="8778240" y="-2103120"/>
            <a:ext cx="6400800" cy="6400800"/>
          </a:xfrm>
          <a:prstGeom prst="ellipse">
            <a:avLst/>
          </a:prstGeom>
          <a:solidFill>
            <a:srgbClr val="132747"/>
          </a:solidFill>
          <a:ln/>
        </p:spPr>
        <p:txBody>
          <a:bodyPr/>
          <a:p/>
        </p:txBody>
      </p:sp>
      <p:sp>
        <p:nvSpPr>
          <p:cNvPr id="4" name="Shape 2"/>
          <p:cNvSpPr/>
          <p:nvPr/>
        </p:nvSpPr>
        <p:spPr>
          <a:xfrm>
            <a:off x="10241280" y="4023360"/>
            <a:ext cx="3840480" cy="3840480"/>
          </a:xfrm>
          <a:prstGeom prst="ellipse">
            <a:avLst/>
          </a:prstGeom>
          <a:solidFill>
            <a:srgbClr val="1C7293">
              <a:alpha val="22000"/>
            </a:srgbClr>
          </a:solidFill>
          <a:ln/>
        </p:spPr>
        <p:txBody>
          <a:bodyPr/>
          <a:p/>
        </p:txBody>
      </p:sp>
      <p:sp>
        <p:nvSpPr>
          <p:cNvPr id="5" name="Text 3"/>
          <p:cNvSpPr/>
          <p:nvPr/>
        </p:nvSpPr>
        <p:spPr>
          <a:xfrm>
            <a:off x="822960" y="1417320"/>
            <a:ext cx="9144000" cy="365760"/>
          </a:xfrm>
          <a:prstGeom prst="rect">
            <a:avLst/>
          </a:prstGeom>
          <a:noFill/>
          <a:ln/>
        </p:spPr>
        <p:txBody>
          <a:bodyPr wrap="square"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BÁO CÁO CUỐI KỲ  •  HỌC MÁY NÂNG CAO</a:t>
            </a:r>
            <a:endParaRPr lang="en-US" sz="1400" dirty="0"/>
          </a:p>
        </p:txBody>
      </p:sp>
      <p:sp>
        <p:nvSpPr>
          <p:cNvPr id="6" name="Text 4"/>
          <p:cNvSpPr/>
          <p:nvPr/>
        </p:nvSpPr>
        <p:spPr>
          <a:xfrm>
            <a:off x="822960" y="1874520"/>
            <a:ext cx="9601200" cy="1920240"/>
          </a:xfrm>
          <a:prstGeom prst="rect">
            <a:avLst/>
          </a:prstGeom>
          <a:noFill/>
          <a:ln/>
        </p:spPr>
        <p:txBody>
          <a:bodyPr wrap="square" rtlCol="0" anchor="ctr"/>
          <a:lstStyle/>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Phát hiện đăng nhập rủi ro</a:t>
            </a:r>
            <a:endParaRPr lang="en-US" sz="4400" dirty="0"/>
          </a:p>
          <a:p>
            <a:pPr indent="0" marL="0">
              <a:lnSpc>
                <a:spcPts val="5200"/>
              </a:lnSpc>
              <a:buNone/>
            </a:pPr>
            <a:r>
              <a:rPr lang="en-US" sz="4400" b="1" dirty="0">
                <a:solidFill>
                  <a:srgbClr val="FFFFFF"/>
                </a:solidFill>
                <a:latin typeface="Cambria" pitchFamily="34" charset="0"/>
                <a:ea typeface="Cambria" pitchFamily="34" charset="-122"/>
                <a:cs typeface="Cambria" pitchFamily="34" charset="-120"/>
              </a:rPr>
              <a:t>bằng MLP kết hợp Fuzzy Logic</a:t>
            </a:r>
            <a:endParaRPr lang="en-US" sz="4400" dirty="0"/>
          </a:p>
        </p:txBody>
      </p:sp>
      <p:sp>
        <p:nvSpPr>
          <p:cNvPr id="7" name="Text 5"/>
          <p:cNvSpPr/>
          <p:nvPr/>
        </p:nvSpPr>
        <p:spPr>
          <a:xfrm>
            <a:off x="822960" y="3794760"/>
            <a:ext cx="9601200" cy="457200"/>
          </a:xfrm>
          <a:prstGeom prst="rect">
            <a:avLst/>
          </a:prstGeom>
          <a:noFill/>
          <a:ln/>
        </p:spPr>
        <p:txBody>
          <a:bodyPr wrap="square"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Risk-Based Authentication (RBA)  —  Mamdani Fuzzy Inference System + Multi-Layer Perceptron</a:t>
            </a:r>
            <a:endParaRPr lang="en-US" sz="1700" dirty="0"/>
          </a:p>
        </p:txBody>
      </p:sp>
      <p:sp>
        <p:nvSpPr>
          <p:cNvPr id="8" name="Shape 6"/>
          <p:cNvSpPr/>
          <p:nvPr/>
        </p:nvSpPr>
        <p:spPr>
          <a:xfrm>
            <a:off x="822960" y="5212080"/>
            <a:ext cx="2926080" cy="0"/>
          </a:xfrm>
          <a:prstGeom prst="line">
            <a:avLst/>
          </a:prstGeom>
          <a:noFill/>
          <a:ln w="25400">
            <a:solidFill>
              <a:srgbClr val="1C7293"/>
            </a:solidFill>
            <a:prstDash val="solid"/>
          </a:ln>
        </p:spPr>
        <p:txBody>
          <a:bodyPr/>
          <a:p/>
        </p:txBody>
      </p:sp>
      <p:sp>
        <p:nvSpPr>
          <p:cNvPr id="9" name="Text 7"/>
          <p:cNvSpPr/>
          <p:nvPr/>
        </p:nvSpPr>
        <p:spPr>
          <a:xfrm>
            <a:off x="822960" y="5349240"/>
            <a:ext cx="10058400" cy="365760"/>
          </a:xfrm>
          <a:prstGeom prst="rect">
            <a:avLst/>
          </a:prstGeom>
          <a:noFill/>
          <a:ln/>
        </p:spPr>
        <p:txBody>
          <a:bodyPr wrap="square" rtlCol="0" anchor="ctr"/>
          <a:lstStyle/>
          <a:p>
            <a:pPr indent="0" marL="0">
              <a:buNone/>
            </a:pPr>
            <a:r>
              <a:rPr lang="en-US" sz="1600" dirty="0">
                <a:solidFill>
                  <a:srgbClr val="C3C2B7"/>
                </a:solidFill>
                <a:latin typeface="Calibri" pitchFamily="34" charset="0"/>
                <a:ea typeface="Calibri" pitchFamily="34" charset="-122"/>
                <a:cs typeface="Calibri" pitchFamily="34" charset="-120"/>
              </a:rPr>
              <a:t>Phạm Trung Kiên — 2591310      Nguyễn Minh Tuấn — 2591325      Lê Phú Nhân — 2591317</a:t>
            </a:r>
            <a:endParaRPr lang="en-US" sz="1300" dirty="0"/>
          </a:p>
        </p:txBody>
      </p:sp>
      <p:sp>
        <p:nvSpPr>
          <p:cNvPr id="10" name="Text 8"/>
          <p:cNvSpPr/>
          <p:nvPr/>
        </p:nvSpPr>
        <p:spPr>
          <a:xfrm>
            <a:off x="822960" y="5715000"/>
            <a:ext cx="10058400" cy="365760"/>
          </a:xfrm>
          <a:prstGeom prst="rect">
            <a:avLst/>
          </a:prstGeom>
          <a:noFill/>
          <a:ln/>
        </p:spPr>
        <p:txBody>
          <a:bodyPr wrap="square" rtlCol="0" anchor="ctr"/>
          <a:lstStyle/>
          <a:p>
            <a:pPr indent="0" marL="0">
              <a:buNone/>
            </a:pPr>
            <a:r>
              <a:rPr lang="en-US" sz="1600" dirty="0">
                <a:solidFill>
                  <a:srgbClr val="C3C2B7"/>
                </a:solidFill>
                <a:latin typeface="Calibri" pitchFamily="34" charset="0"/>
                <a:ea typeface="Calibri" pitchFamily="34" charset="-122"/>
                <a:cs typeface="Calibri" pitchFamily="34" charset="-120"/>
              </a:rPr>
              <a:t>Nhóm 10   •   Lớp: KHMT 2025B   •   GVHD: TS. Phan Thị Huyền Trang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NỘI DUNG TRÌNH BÀY</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6 phần chính</a:t>
            </a:r>
            <a:endParaRPr lang="en-US" sz="3200" dirty="0"/>
          </a:p>
        </p:txBody>
      </p:sp>
      <p:sp>
        <p:nvSpPr>
          <p:cNvPr id="4" name="Shape 2"/>
          <p:cNvSpPr/>
          <p:nvPr/>
        </p:nvSpPr>
        <p:spPr>
          <a:xfrm>
            <a:off x="548640" y="187452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5" name="Shape 3"/>
          <p:cNvSpPr/>
          <p:nvPr/>
        </p:nvSpPr>
        <p:spPr>
          <a:xfrm>
            <a:off x="804672" y="2176272"/>
            <a:ext cx="768096" cy="768096"/>
          </a:xfrm>
          <a:prstGeom prst="ellipse">
            <a:avLst/>
          </a:prstGeom>
          <a:solidFill>
            <a:srgbClr val="132747"/>
          </a:solidFill>
          <a:ln/>
        </p:spPr>
        <p:txBody>
          <a:bodyPr/>
          <a:p/>
        </p:txBody>
      </p:sp>
      <p:sp>
        <p:nvSpPr>
          <p:cNvPr id="6" name="Text 4"/>
          <p:cNvSpPr/>
          <p:nvPr/>
        </p:nvSpPr>
        <p:spPr>
          <a:xfrm>
            <a:off x="804672" y="217627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01</a:t>
            </a:r>
            <a:endParaRPr lang="en-US" sz="2200" dirty="0"/>
          </a:p>
        </p:txBody>
      </p:sp>
      <p:sp>
        <p:nvSpPr>
          <p:cNvPr id="7" name="Text 5"/>
          <p:cNvSpPr/>
          <p:nvPr/>
        </p:nvSpPr>
        <p:spPr>
          <a:xfrm>
            <a:off x="1737360" y="203911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Bài toán RBA</a:t>
            </a:r>
            <a:endParaRPr lang="en-US" sz="1700" dirty="0"/>
          </a:p>
        </p:txBody>
      </p:sp>
      <p:sp>
        <p:nvSpPr>
          <p:cNvPr id="8" name="Text 6"/>
          <p:cNvSpPr/>
          <p:nvPr/>
        </p:nvSpPr>
        <p:spPr>
          <a:xfrm>
            <a:off x="1737360" y="249631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Vì sao cần chấm điểm rủi ro đăng nhập</a:t>
            </a:r>
            <a:endParaRPr lang="en-US" sz="1250" dirty="0"/>
          </a:p>
        </p:txBody>
      </p:sp>
      <p:sp>
        <p:nvSpPr>
          <p:cNvPr id="9" name="Shape 7"/>
          <p:cNvSpPr/>
          <p:nvPr/>
        </p:nvSpPr>
        <p:spPr>
          <a:xfrm>
            <a:off x="6263640" y="187452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10" name="Shape 8"/>
          <p:cNvSpPr/>
          <p:nvPr/>
        </p:nvSpPr>
        <p:spPr>
          <a:xfrm>
            <a:off x="6519672" y="2176272"/>
            <a:ext cx="768096" cy="768096"/>
          </a:xfrm>
          <a:prstGeom prst="ellipse">
            <a:avLst/>
          </a:prstGeom>
          <a:solidFill>
            <a:srgbClr val="132747"/>
          </a:solidFill>
          <a:ln/>
        </p:spPr>
        <p:txBody>
          <a:bodyPr/>
          <a:p/>
        </p:txBody>
      </p:sp>
      <p:sp>
        <p:nvSpPr>
          <p:cNvPr id="11" name="Text 9"/>
          <p:cNvSpPr/>
          <p:nvPr/>
        </p:nvSpPr>
        <p:spPr>
          <a:xfrm>
            <a:off x="6519672" y="217627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7452360" y="203911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Kiến trúc hệ thống</a:t>
            </a:r>
            <a:endParaRPr lang="en-US" sz="1700" dirty="0"/>
          </a:p>
        </p:txBody>
      </p:sp>
      <p:sp>
        <p:nvSpPr>
          <p:cNvPr id="13" name="Text 11"/>
          <p:cNvSpPr/>
          <p:nvPr/>
        </p:nvSpPr>
        <p:spPr>
          <a:xfrm>
            <a:off x="7452360" y="249631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Mô hình lai MLP + Mamdani Fuzzy</a:t>
            </a:r>
            <a:endParaRPr lang="en-US" sz="1250" dirty="0"/>
          </a:p>
        </p:txBody>
      </p:sp>
      <p:sp>
        <p:nvSpPr>
          <p:cNvPr id="14" name="Shape 12"/>
          <p:cNvSpPr/>
          <p:nvPr/>
        </p:nvSpPr>
        <p:spPr>
          <a:xfrm>
            <a:off x="548640" y="356616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15" name="Shape 13"/>
          <p:cNvSpPr/>
          <p:nvPr/>
        </p:nvSpPr>
        <p:spPr>
          <a:xfrm>
            <a:off x="804672" y="3867912"/>
            <a:ext cx="768096" cy="768096"/>
          </a:xfrm>
          <a:prstGeom prst="ellipse">
            <a:avLst/>
          </a:prstGeom>
          <a:solidFill>
            <a:srgbClr val="132747"/>
          </a:solidFill>
          <a:ln/>
        </p:spPr>
        <p:txBody>
          <a:bodyPr/>
          <a:p/>
        </p:txBody>
      </p:sp>
      <p:sp>
        <p:nvSpPr>
          <p:cNvPr id="16" name="Text 14"/>
          <p:cNvSpPr/>
          <p:nvPr/>
        </p:nvSpPr>
        <p:spPr>
          <a:xfrm>
            <a:off x="804672" y="386791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03</a:t>
            </a:r>
            <a:endParaRPr lang="en-US" sz="2200" dirty="0"/>
          </a:p>
        </p:txBody>
      </p:sp>
      <p:sp>
        <p:nvSpPr>
          <p:cNvPr id="17" name="Text 15"/>
          <p:cNvSpPr/>
          <p:nvPr/>
        </p:nvSpPr>
        <p:spPr>
          <a:xfrm>
            <a:off x="1737360" y="373075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Mamdani Fuzzy Logic</a:t>
            </a:r>
            <a:endParaRPr lang="en-US" sz="1700" dirty="0"/>
          </a:p>
        </p:txBody>
      </p:sp>
      <p:sp>
        <p:nvSpPr>
          <p:cNvPr id="18" name="Text 16"/>
          <p:cNvSpPr/>
          <p:nvPr/>
        </p:nvSpPr>
        <p:spPr>
          <a:xfrm>
            <a:off x="1737360" y="418795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4 bước suy diễn mờ, minh hoạ số cụ thể</a:t>
            </a:r>
            <a:endParaRPr lang="en-US" sz="1250" dirty="0"/>
          </a:p>
        </p:txBody>
      </p:sp>
      <p:sp>
        <p:nvSpPr>
          <p:cNvPr id="19" name="Shape 17"/>
          <p:cNvSpPr/>
          <p:nvPr/>
        </p:nvSpPr>
        <p:spPr>
          <a:xfrm>
            <a:off x="6263640" y="356616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20" name="Shape 18"/>
          <p:cNvSpPr/>
          <p:nvPr/>
        </p:nvSpPr>
        <p:spPr>
          <a:xfrm>
            <a:off x="6519672" y="3867912"/>
            <a:ext cx="768096" cy="768096"/>
          </a:xfrm>
          <a:prstGeom prst="ellipse">
            <a:avLst/>
          </a:prstGeom>
          <a:solidFill>
            <a:srgbClr val="132747"/>
          </a:solidFill>
          <a:ln/>
        </p:spPr>
        <p:txBody>
          <a:bodyPr/>
          <a:p/>
        </p:txBody>
      </p:sp>
      <p:sp>
        <p:nvSpPr>
          <p:cNvPr id="21" name="Text 19"/>
          <p:cNvSpPr/>
          <p:nvPr/>
        </p:nvSpPr>
        <p:spPr>
          <a:xfrm>
            <a:off x="6519672" y="386791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04</a:t>
            </a:r>
            <a:endParaRPr lang="en-US" sz="2200" dirty="0"/>
          </a:p>
        </p:txBody>
      </p:sp>
      <p:sp>
        <p:nvSpPr>
          <p:cNvPr id="22" name="Text 20"/>
          <p:cNvSpPr/>
          <p:nvPr/>
        </p:nvSpPr>
        <p:spPr>
          <a:xfrm>
            <a:off x="7452360" y="373075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Mạng MLP</a:t>
            </a:r>
            <a:endParaRPr lang="en-US" sz="1700" dirty="0"/>
          </a:p>
        </p:txBody>
      </p:sp>
      <p:sp>
        <p:nvSpPr>
          <p:cNvPr id="23" name="Text 21"/>
          <p:cNvSpPr/>
          <p:nvPr/>
        </p:nvSpPr>
        <p:spPr>
          <a:xfrm>
            <a:off x="7452360" y="418795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Kiến trúc, loss, huấn luyện</a:t>
            </a:r>
            <a:endParaRPr lang="en-US" sz="1250" dirty="0"/>
          </a:p>
        </p:txBody>
      </p:sp>
      <p:sp>
        <p:nvSpPr>
          <p:cNvPr id="24" name="Shape 22"/>
          <p:cNvSpPr/>
          <p:nvPr/>
        </p:nvSpPr>
        <p:spPr>
          <a:xfrm>
            <a:off x="548640" y="525780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25" name="Shape 23"/>
          <p:cNvSpPr/>
          <p:nvPr/>
        </p:nvSpPr>
        <p:spPr>
          <a:xfrm>
            <a:off x="804672" y="5559552"/>
            <a:ext cx="768096" cy="768096"/>
          </a:xfrm>
          <a:prstGeom prst="ellipse">
            <a:avLst/>
          </a:prstGeom>
          <a:solidFill>
            <a:srgbClr val="132747"/>
          </a:solidFill>
          <a:ln/>
        </p:spPr>
        <p:txBody>
          <a:bodyPr/>
          <a:p/>
        </p:txBody>
      </p:sp>
      <p:sp>
        <p:nvSpPr>
          <p:cNvPr id="26" name="Text 24"/>
          <p:cNvSpPr/>
          <p:nvPr/>
        </p:nvSpPr>
        <p:spPr>
          <a:xfrm>
            <a:off x="804672" y="555955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05</a:t>
            </a:r>
            <a:endParaRPr lang="en-US" sz="2200" dirty="0"/>
          </a:p>
        </p:txBody>
      </p:sp>
      <p:sp>
        <p:nvSpPr>
          <p:cNvPr id="27" name="Text 25"/>
          <p:cNvSpPr/>
          <p:nvPr/>
        </p:nvSpPr>
        <p:spPr>
          <a:xfrm>
            <a:off x="1737360" y="542239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Kết quả thực nghiệm</a:t>
            </a:r>
            <a:endParaRPr lang="en-US" sz="1700" dirty="0"/>
          </a:p>
        </p:txBody>
      </p:sp>
      <p:sp>
        <p:nvSpPr>
          <p:cNvPr id="28" name="Text 26"/>
          <p:cNvSpPr/>
          <p:nvPr/>
        </p:nvSpPr>
        <p:spPr>
          <a:xfrm>
            <a:off x="1737360" y="587959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AUROC, AUPRC, Precision/Recall</a:t>
            </a:r>
            <a:endParaRPr lang="en-US" sz="1250" dirty="0"/>
          </a:p>
        </p:txBody>
      </p:sp>
      <p:sp>
        <p:nvSpPr>
          <p:cNvPr id="29" name="Shape 27"/>
          <p:cNvSpPr/>
          <p:nvPr/>
        </p:nvSpPr>
        <p:spPr>
          <a:xfrm>
            <a:off x="6263640" y="5257800"/>
            <a:ext cx="5349240" cy="1371600"/>
          </a:xfrm>
          <a:prstGeom prst="roundRect">
            <a:avLst>
              <a:gd name="adj" fmla="val 6667"/>
            </a:avLst>
          </a:prstGeom>
          <a:solidFill>
            <a:srgbClr val="FFFFFF"/>
          </a:solidFill>
          <a:ln w="12700">
            <a:solidFill>
              <a:srgbClr val="E1E0D9"/>
            </a:solidFill>
            <a:prstDash val="solid"/>
          </a:ln>
          <a:effectLst>
            <a:outerShdw sx="100000" sy="100000" kx="0" ky="0" algn="bl" rotWithShape="0" blurRad="101600" dist="38100" dir="5400000">
              <a:srgbClr val="000000">
                <a:alpha val="12000"/>
              </a:srgbClr>
            </a:outerShdw>
          </a:effectLst>
        </p:spPr>
        <p:txBody>
          <a:bodyPr/>
          <a:p/>
        </p:txBody>
      </p:sp>
      <p:sp>
        <p:nvSpPr>
          <p:cNvPr id="30" name="Shape 28"/>
          <p:cNvSpPr/>
          <p:nvPr/>
        </p:nvSpPr>
        <p:spPr>
          <a:xfrm>
            <a:off x="6519672" y="5559552"/>
            <a:ext cx="768096" cy="768096"/>
          </a:xfrm>
          <a:prstGeom prst="ellipse">
            <a:avLst/>
          </a:prstGeom>
          <a:solidFill>
            <a:srgbClr val="132747"/>
          </a:solidFill>
          <a:ln/>
        </p:spPr>
        <p:txBody>
          <a:bodyPr/>
          <a:p/>
        </p:txBody>
      </p:sp>
      <p:sp>
        <p:nvSpPr>
          <p:cNvPr id="31" name="Text 29"/>
          <p:cNvSpPr/>
          <p:nvPr/>
        </p:nvSpPr>
        <p:spPr>
          <a:xfrm>
            <a:off x="6519672" y="5559552"/>
            <a:ext cx="768096" cy="768096"/>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06</a:t>
            </a:r>
            <a:endParaRPr lang="en-US" sz="2200" dirty="0"/>
          </a:p>
        </p:txBody>
      </p:sp>
      <p:sp>
        <p:nvSpPr>
          <p:cNvPr id="32" name="Text 30"/>
          <p:cNvSpPr/>
          <p:nvPr/>
        </p:nvSpPr>
        <p:spPr>
          <a:xfrm>
            <a:off x="7452360" y="5422392"/>
            <a:ext cx="3977640" cy="457200"/>
          </a:xfrm>
          <a:prstGeom prst="rect">
            <a:avLst/>
          </a:prstGeom>
          <a:noFill/>
          <a:ln/>
        </p:spPr>
        <p:txBody>
          <a:bodyPr wrap="square" rtlCol="0" anchor="ctr"/>
          <a:lstStyle/>
          <a:p>
            <a:pPr indent="0" marL="0">
              <a:buNone/>
            </a:pPr>
            <a:r>
              <a:rPr lang="en-US" sz="1700" b="1" dirty="0">
                <a:solidFill>
                  <a:srgbClr val="132747"/>
                </a:solidFill>
                <a:latin typeface="Cambria" pitchFamily="34" charset="0"/>
                <a:ea typeface="Cambria" pitchFamily="34" charset="-122"/>
                <a:cs typeface="Cambria" pitchFamily="34" charset="-120"/>
              </a:rPr>
              <a:t>Hạn chế &amp; Kết luận</a:t>
            </a:r>
            <a:endParaRPr lang="en-US" sz="1700" dirty="0"/>
          </a:p>
        </p:txBody>
      </p:sp>
      <p:sp>
        <p:nvSpPr>
          <p:cNvPr id="33" name="Text 31"/>
          <p:cNvSpPr/>
          <p:nvPr/>
        </p:nvSpPr>
        <p:spPr>
          <a:xfrm>
            <a:off x="7452360" y="5879592"/>
            <a:ext cx="3977640" cy="640080"/>
          </a:xfrm>
          <a:prstGeom prst="rect">
            <a:avLst/>
          </a:prstGeom>
          <a:noFill/>
          <a:ln/>
        </p:spPr>
        <p:txBody>
          <a:bodyPr wrap="square" rtlCol="0" anchor="t"/>
          <a:lstStyle/>
          <a:p>
            <a:pPr indent="0" marL="0">
              <a:buNone/>
            </a:pPr>
            <a:r>
              <a:rPr lang="en-US" sz="1600" dirty="0">
                <a:solidFill>
                  <a:srgbClr val="52514E"/>
                </a:solidFill>
                <a:latin typeface="Calibri" pitchFamily="34" charset="0"/>
                <a:ea typeface="Calibri" pitchFamily="34" charset="-122"/>
                <a:cs typeface="Calibri" pitchFamily="34" charset="-120"/>
              </a:rPr>
              <a:t>Phát hiện khi phân tích lại mã nguồn</a:t>
            </a:r>
            <a:endParaRPr lang="en-US" sz="1250" dirty="0"/>
          </a:p>
        </p:txBody>
      </p:sp>
      <p:sp>
        <p:nvSpPr>
          <p:cNvPr id="34" name="Text 3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1 · BÀI TOÁN</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Risk-Based Authentication là gì?</a:t>
            </a:r>
            <a:endParaRPr lang="en-US" sz="3200" dirty="0"/>
          </a:p>
        </p:txBody>
      </p:sp>
      <p:sp>
        <p:nvSpPr>
          <p:cNvPr id="4" name="Text 2"/>
          <p:cNvSpPr/>
          <p:nvPr/>
        </p:nvSpPr>
        <p:spPr>
          <a:xfrm>
            <a:off x="548640" y="1783080"/>
            <a:ext cx="5120640" cy="1828800"/>
          </a:xfrm>
          <a:prstGeom prst="rect">
            <a:avLst/>
          </a:prstGeom>
          <a:noFill/>
          <a:ln/>
        </p:spPr>
        <p:txBody>
          <a:bodyPr wrap="square" rtlCol="0" anchor="ctr"/>
          <a:lstStyle/>
          <a:p>
            <a:pPr indent="0" marL="0">
              <a:lnSpc>
                <a:spcPts val="2400"/>
              </a:lnSpc>
              <a:buNone/>
            </a:pPr>
            <a:r>
              <a:rPr lang="en-US" sz="1600" dirty="0">
                <a:solidFill>
                  <a:srgbClr val="232323"/>
                </a:solidFill>
                <a:latin typeface="Calibri" pitchFamily="34" charset="0"/>
                <a:ea typeface="Calibri" pitchFamily="34" charset="-122"/>
                <a:cs typeface="Calibri" pitchFamily="34" charset="-120"/>
              </a:rPr>
              <a:t>Thay vì chỉ kiểm tra “đúng mật khẩu là cho vào”, hệ thống chấm một điểm rủi ro cho mỗi lượt đăng nhập dựa trên nhiều tín hiệu ngữ cảnh: vị trí, thiết bị, nhà mạng, thời điểm, và lịch sử hành vi của chính người dùng đó.</a:t>
            </a:r>
            <a:endParaRPr lang="en-US" sz="1550" dirty="0"/>
          </a:p>
        </p:txBody>
      </p:sp>
      <p:sp>
        <p:nvSpPr>
          <p:cNvPr id="5" name="Text 3"/>
          <p:cNvSpPr/>
          <p:nvPr/>
        </p:nvSpPr>
        <p:spPr>
          <a:xfrm>
            <a:off x="548640" y="4023360"/>
            <a:ext cx="5120640" cy="1005840"/>
          </a:xfrm>
          <a:prstGeom prst="rect">
            <a:avLst/>
          </a:prstGeom>
          <a:noFill/>
          <a:ln/>
        </p:spPr>
        <p:txBody>
          <a:bodyPr wrap="square" rtlCol="0" anchor="ctr"/>
          <a:lstStyle/>
          <a:p>
            <a:pPr indent="0" marL="0">
              <a:lnSpc>
                <a:spcPts val="2200"/>
              </a:lnSpc>
              <a:buNone/>
            </a:pPr>
            <a:r>
              <a:rPr lang="en-US" sz="1600" i="1" dirty="0">
                <a:solidFill>
                  <a:srgbClr val="1C7293"/>
                </a:solidFill>
                <a:latin typeface="Calibri" pitchFamily="34" charset="0"/>
                <a:ea typeface="Calibri" pitchFamily="34" charset="-122"/>
                <a:cs typeface="Calibri" pitchFamily="34" charset="-120"/>
              </a:rPr>
              <a:t>Mục tiêu đồ án: dự đoán xác suất một lượt đăng nhập đến từ IP tấn công, trên 500.000 dòng dữ liệu log thật.</a:t>
            </a:r>
            <a:endParaRPr lang="en-US" sz="1400" dirty="0"/>
          </a:p>
        </p:txBody>
      </p:sp>
      <p:sp>
        <p:nvSpPr>
          <p:cNvPr id="6" name="Shape 4"/>
          <p:cNvSpPr/>
          <p:nvPr/>
        </p:nvSpPr>
        <p:spPr>
          <a:xfrm>
            <a:off x="6309360" y="1828800"/>
            <a:ext cx="5212080" cy="1051560"/>
          </a:xfrm>
          <a:prstGeom prst="roundRect">
            <a:avLst>
              <a:gd name="adj" fmla="val 10435"/>
            </a:avLst>
          </a:prstGeom>
          <a:solidFill>
            <a:srgbClr val="132747"/>
          </a:solidFill>
          <a:ln/>
          <a:effectLst>
            <a:outerShdw sx="100000" sy="100000" kx="0" ky="0" algn="bl" rotWithShape="0" blurRad="101600" dist="38100" dir="5400000">
              <a:srgbClr val="000000">
                <a:alpha val="15000"/>
              </a:srgbClr>
            </a:outerShdw>
          </a:effectLst>
        </p:spPr>
        <p:txBody>
          <a:bodyPr/>
          <a:p/>
        </p:txBody>
      </p:sp>
      <p:sp>
        <p:nvSpPr>
          <p:cNvPr id="7" name="Text 5"/>
          <p:cNvSpPr/>
          <p:nvPr/>
        </p:nvSpPr>
        <p:spPr>
          <a:xfrm>
            <a:off x="6309360" y="1828800"/>
            <a:ext cx="5212080" cy="1051560"/>
          </a:xfrm>
          <a:prstGeom prst="rect">
            <a:avLst/>
          </a:prstGeom>
          <a:noFill/>
          <a:ln/>
        </p:spPr>
        <p:txBody>
          <a:bodyPr wrap="square" rtlCol="0" anchor="ctr"/>
          <a:lstStyle/>
          <a:p>
            <a:pPr algn="ctr" indent="0" marL="0">
              <a:lnSpc>
                <a:spcPts val="2000"/>
              </a:lnSpc>
              <a:buNone/>
            </a:pPr>
            <a:r>
              <a:rPr lang="en-US" sz="1600" b="1" dirty="0">
                <a:solidFill>
                  <a:srgbClr val="FFFFFF"/>
                </a:solidFill>
                <a:latin typeface="Cambria" pitchFamily="34" charset="0"/>
                <a:ea typeface="Cambria" pitchFamily="34" charset="-122"/>
                <a:cs typeface="Cambria" pitchFamily="34" charset="-120"/>
              </a:rPr>
              <a:t>Đăng nhập</a:t>
            </a:r>
            <a:endParaRPr lang="en-US" sz="1600" dirty="0"/>
          </a:p>
        </p:txBody>
      </p:sp>
      <p:sp>
        <p:nvSpPr>
          <p:cNvPr id="8" name="Text 6"/>
          <p:cNvSpPr/>
          <p:nvPr/>
        </p:nvSpPr>
        <p:spPr>
          <a:xfrm>
            <a:off x="8641080" y="2935224"/>
            <a:ext cx="548640" cy="457200"/>
          </a:xfrm>
          <a:prstGeom prst="rect">
            <a:avLst/>
          </a:prstGeom>
          <a:noFill/>
          <a:ln/>
        </p:spPr>
        <p:txBody>
          <a:bodyPr wrap="square" rtlCol="0" anchor="ctr"/>
          <a:lstStyle/>
          <a:p>
            <a:pPr algn="ctr" indent="0" marL="0">
              <a:buNone/>
            </a:pPr>
            <a:r>
              <a:rPr lang="en-US" sz="2000" b="1" dirty="0">
                <a:solidFill>
                  <a:srgbClr val="132747"/>
                </a:solidFill>
              </a:rPr>
              <a:t>▼</a:t>
            </a:r>
            <a:endParaRPr lang="en-US" sz="2000" dirty="0"/>
          </a:p>
        </p:txBody>
      </p:sp>
      <p:sp>
        <p:nvSpPr>
          <p:cNvPr id="9" name="Shape 7"/>
          <p:cNvSpPr/>
          <p:nvPr/>
        </p:nvSpPr>
        <p:spPr>
          <a:xfrm>
            <a:off x="6309360" y="3566160"/>
            <a:ext cx="5212080" cy="1051560"/>
          </a:xfrm>
          <a:prstGeom prst="roundRect">
            <a:avLst>
              <a:gd name="adj" fmla="val 10435"/>
            </a:avLst>
          </a:prstGeom>
          <a:solidFill>
            <a:srgbClr val="1C7293"/>
          </a:solidFill>
          <a:ln/>
          <a:effectLst>
            <a:outerShdw sx="100000" sy="100000" kx="0" ky="0" algn="bl" rotWithShape="0" blurRad="101600" dist="38100" dir="5400000">
              <a:srgbClr val="000000">
                <a:alpha val="15000"/>
              </a:srgbClr>
            </a:outerShdw>
          </a:effectLst>
        </p:spPr>
        <p:txBody>
          <a:bodyPr/>
          <a:p/>
        </p:txBody>
      </p:sp>
      <p:sp>
        <p:nvSpPr>
          <p:cNvPr id="10" name="Text 8"/>
          <p:cNvSpPr/>
          <p:nvPr/>
        </p:nvSpPr>
        <p:spPr>
          <a:xfrm>
            <a:off x="6309360" y="3566160"/>
            <a:ext cx="5212080" cy="1051560"/>
          </a:xfrm>
          <a:prstGeom prst="rect">
            <a:avLst/>
          </a:prstGeom>
          <a:noFill/>
          <a:ln/>
        </p:spPr>
        <p:txBody>
          <a:bodyPr wrap="square" rtlCol="0" anchor="ctr"/>
          <a:lstStyle/>
          <a:p>
            <a:pPr algn="ctr" indent="0" marL="0">
              <a:lnSpc>
                <a:spcPts val="2000"/>
              </a:lnSpc>
              <a:buNone/>
            </a:pPr>
            <a:r>
              <a:rPr lang="en-US" sz="1600" b="1" dirty="0">
                <a:solidFill>
                  <a:srgbClr val="FFFFFF"/>
                </a:solidFill>
                <a:latin typeface="Cambria" pitchFamily="34" charset="0"/>
                <a:ea typeface="Cambria" pitchFamily="34" charset="-122"/>
                <a:cs typeface="Cambria" pitchFamily="34" charset="-120"/>
              </a:rPr>
              <a:t>Chấm điểm</a:t>
            </a:r>
            <a:endParaRPr lang="en-US" sz="1600" dirty="0"/>
          </a:p>
          <a:p>
            <a:pPr algn="ctr" indent="0" marL="0">
              <a:lnSpc>
                <a:spcPts val="2000"/>
              </a:lnSpc>
              <a:buNone/>
            </a:pPr>
            <a:r>
              <a:rPr lang="en-US" sz="1600" b="1" dirty="0">
                <a:solidFill>
                  <a:srgbClr val="FFFFFF"/>
                </a:solidFill>
                <a:latin typeface="Cambria" pitchFamily="34" charset="0"/>
                <a:ea typeface="Cambria" pitchFamily="34" charset="-122"/>
                <a:cs typeface="Cambria" pitchFamily="34" charset="-120"/>
              </a:rPr>
              <a:t>rủi ro</a:t>
            </a:r>
            <a:endParaRPr lang="en-US" sz="1600" dirty="0"/>
          </a:p>
        </p:txBody>
      </p:sp>
      <p:sp>
        <p:nvSpPr>
          <p:cNvPr id="11" name="Text 9"/>
          <p:cNvSpPr/>
          <p:nvPr/>
        </p:nvSpPr>
        <p:spPr>
          <a:xfrm>
            <a:off x="8641080" y="4672584"/>
            <a:ext cx="548640" cy="457200"/>
          </a:xfrm>
          <a:prstGeom prst="rect">
            <a:avLst/>
          </a:prstGeom>
          <a:noFill/>
          <a:ln/>
        </p:spPr>
        <p:txBody>
          <a:bodyPr wrap="square" rtlCol="0" anchor="ctr"/>
          <a:lstStyle/>
          <a:p>
            <a:pPr algn="ctr" indent="0" marL="0">
              <a:buNone/>
            </a:pPr>
            <a:r>
              <a:rPr lang="en-US" sz="2000" b="1" dirty="0">
                <a:solidFill>
                  <a:srgbClr val="132747"/>
                </a:solidFill>
              </a:rPr>
              <a:t>▼</a:t>
            </a:r>
            <a:endParaRPr lang="en-US" sz="2000" dirty="0"/>
          </a:p>
        </p:txBody>
      </p:sp>
      <p:sp>
        <p:nvSpPr>
          <p:cNvPr id="12" name="Shape 10"/>
          <p:cNvSpPr/>
          <p:nvPr/>
        </p:nvSpPr>
        <p:spPr>
          <a:xfrm>
            <a:off x="6309360" y="5303520"/>
            <a:ext cx="5212080" cy="1051560"/>
          </a:xfrm>
          <a:prstGeom prst="roundRect">
            <a:avLst>
              <a:gd name="adj" fmla="val 10435"/>
            </a:avLst>
          </a:prstGeom>
          <a:solidFill>
            <a:srgbClr val="D03B3B"/>
          </a:solidFill>
          <a:ln/>
          <a:effectLst>
            <a:outerShdw sx="100000" sy="100000" kx="0" ky="0" algn="bl" rotWithShape="0" blurRad="101600" dist="38100" dir="5400000">
              <a:srgbClr val="000000">
                <a:alpha val="15000"/>
              </a:srgbClr>
            </a:outerShdw>
          </a:effectLst>
        </p:spPr>
        <p:txBody>
          <a:bodyPr/>
          <a:p/>
        </p:txBody>
      </p:sp>
      <p:sp>
        <p:nvSpPr>
          <p:cNvPr id="13" name="Text 11"/>
          <p:cNvSpPr/>
          <p:nvPr/>
        </p:nvSpPr>
        <p:spPr>
          <a:xfrm>
            <a:off x="6309360" y="5303520"/>
            <a:ext cx="5212080" cy="1051560"/>
          </a:xfrm>
          <a:prstGeom prst="rect">
            <a:avLst/>
          </a:prstGeom>
          <a:noFill/>
          <a:ln/>
        </p:spPr>
        <p:txBody>
          <a:bodyPr wrap="square" rtlCol="0" anchor="ctr"/>
          <a:lstStyle/>
          <a:p>
            <a:pPr algn="ctr" indent="0" marL="0">
              <a:lnSpc>
                <a:spcPts val="2000"/>
              </a:lnSpc>
              <a:buNone/>
            </a:pPr>
            <a:r>
              <a:rPr lang="en-US" sz="1600" b="1" dirty="0">
                <a:solidFill>
                  <a:srgbClr val="FFFFFF"/>
                </a:solidFill>
                <a:latin typeface="Cambria" pitchFamily="34" charset="0"/>
                <a:ea typeface="Cambria" pitchFamily="34" charset="-122"/>
                <a:cs typeface="Cambria" pitchFamily="34" charset="-120"/>
              </a:rPr>
              <a:t>An toàn → cho qua</a:t>
            </a:r>
            <a:endParaRPr lang="en-US" sz="1600" dirty="0"/>
          </a:p>
          <a:p>
            <a:pPr algn="ctr" indent="0" marL="0">
              <a:lnSpc>
                <a:spcPts val="2000"/>
              </a:lnSpc>
              <a:buNone/>
            </a:pPr>
            <a:r>
              <a:rPr lang="en-US" sz="1600" b="1" dirty="0">
                <a:solidFill>
                  <a:srgbClr val="FFFFFF"/>
                </a:solidFill>
                <a:latin typeface="Cambria" pitchFamily="34" charset="0"/>
                <a:ea typeface="Cambria" pitchFamily="34" charset="-122"/>
                <a:cs typeface="Cambria" pitchFamily="34" charset="-120"/>
              </a:rPr>
              <a:t>Rủi ro → xác thực thêm</a:t>
            </a:r>
            <a:endParaRPr lang="en-US" sz="1600" dirty="0"/>
          </a:p>
        </p:txBody>
      </p:sp>
      <p:sp>
        <p:nvSpPr>
          <p:cNvPr id="14" name="Text 1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1 · BÀI TOÁN</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Bộ dữ liệu</a:t>
            </a:r>
            <a:endParaRPr lang="en-US" sz="3200" dirty="0"/>
          </a:p>
        </p:txBody>
      </p:sp>
      <p:sp>
        <p:nvSpPr>
          <p:cNvPr id="4" name="Shape 2"/>
          <p:cNvSpPr/>
          <p:nvPr/>
        </p:nvSpPr>
        <p:spPr>
          <a:xfrm>
            <a:off x="548640" y="1783080"/>
            <a:ext cx="3383280" cy="1600200"/>
          </a:xfrm>
          <a:prstGeom prst="roundRect">
            <a:avLst>
              <a:gd name="adj" fmla="val 5714"/>
            </a:avLst>
          </a:prstGeom>
          <a:solidFill>
            <a:srgbClr val="132747"/>
          </a:solidFill>
          <a:ln/>
        </p:spPr>
        <p:txBody>
          <a:bodyPr/>
          <a:p/>
        </p:txBody>
      </p:sp>
      <p:sp>
        <p:nvSpPr>
          <p:cNvPr id="5" name="Text 3"/>
          <p:cNvSpPr/>
          <p:nvPr/>
        </p:nvSpPr>
        <p:spPr>
          <a:xfrm>
            <a:off x="548640" y="1901952"/>
            <a:ext cx="3383280" cy="868680"/>
          </a:xfrm>
          <a:prstGeom prst="rect">
            <a:avLst/>
          </a:prstGeom>
          <a:noFill/>
          <a:ln/>
        </p:spPr>
        <p:txBody>
          <a:bodyPr wrap="square" rtlCol="0" anchor="ctr"/>
          <a:lstStyle/>
          <a:p>
            <a:pPr algn="ctr" indent="0" marL="0">
              <a:buNone/>
            </a:pPr>
            <a:r>
              <a:rPr lang="en-US" sz="3800" b="1" dirty="0">
                <a:solidFill>
                  <a:srgbClr val="CADCFC"/>
                </a:solidFill>
                <a:latin typeface="Cambria" pitchFamily="34" charset="0"/>
                <a:ea typeface="Cambria" pitchFamily="34" charset="-122"/>
                <a:cs typeface="Cambria" pitchFamily="34" charset="-120"/>
              </a:rPr>
              <a:t>500.000</a:t>
            </a:r>
            <a:endParaRPr lang="en-US" sz="3800" dirty="0"/>
          </a:p>
        </p:txBody>
      </p:sp>
      <p:sp>
        <p:nvSpPr>
          <p:cNvPr id="6" name="Text 4"/>
          <p:cNvSpPr/>
          <p:nvPr/>
        </p:nvSpPr>
        <p:spPr>
          <a:xfrm>
            <a:off x="548640" y="2697480"/>
            <a:ext cx="3383280" cy="54864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lượt đăng nhập</a:t>
            </a:r>
            <a:endParaRPr lang="en-US" sz="1300" dirty="0"/>
          </a:p>
        </p:txBody>
      </p:sp>
      <p:sp>
        <p:nvSpPr>
          <p:cNvPr id="7" name="Shape 5"/>
          <p:cNvSpPr/>
          <p:nvPr/>
        </p:nvSpPr>
        <p:spPr>
          <a:xfrm>
            <a:off x="4251960" y="1783080"/>
            <a:ext cx="3383280" cy="1600200"/>
          </a:xfrm>
          <a:prstGeom prst="roundRect">
            <a:avLst>
              <a:gd name="adj" fmla="val 5714"/>
            </a:avLst>
          </a:prstGeom>
          <a:solidFill>
            <a:srgbClr val="132747"/>
          </a:solidFill>
          <a:ln/>
        </p:spPr>
        <p:txBody>
          <a:bodyPr/>
          <a:p/>
        </p:txBody>
      </p:sp>
      <p:sp>
        <p:nvSpPr>
          <p:cNvPr id="8" name="Text 6"/>
          <p:cNvSpPr/>
          <p:nvPr/>
        </p:nvSpPr>
        <p:spPr>
          <a:xfrm>
            <a:off x="4251960" y="1901952"/>
            <a:ext cx="3383280" cy="868680"/>
          </a:xfrm>
          <a:prstGeom prst="rect">
            <a:avLst/>
          </a:prstGeom>
          <a:noFill/>
          <a:ln/>
        </p:spPr>
        <p:txBody>
          <a:bodyPr wrap="square" rtlCol="0" anchor="ctr"/>
          <a:lstStyle/>
          <a:p>
            <a:pPr algn="ctr" indent="0" marL="0">
              <a:buNone/>
            </a:pPr>
            <a:r>
              <a:rPr lang="en-US" sz="3800" b="1" dirty="0">
                <a:solidFill>
                  <a:srgbClr val="CADCFC"/>
                </a:solidFill>
                <a:latin typeface="Cambria" pitchFamily="34" charset="0"/>
                <a:ea typeface="Cambria" pitchFamily="34" charset="-122"/>
                <a:cs typeface="Cambria" pitchFamily="34" charset="-120"/>
              </a:rPr>
              <a:t>~3%</a:t>
            </a:r>
            <a:endParaRPr lang="en-US" sz="3800" dirty="0"/>
          </a:p>
        </p:txBody>
      </p:sp>
      <p:sp>
        <p:nvSpPr>
          <p:cNvPr id="9" name="Text 7"/>
          <p:cNvSpPr/>
          <p:nvPr/>
        </p:nvSpPr>
        <p:spPr>
          <a:xfrm>
            <a:off x="4251960" y="2697480"/>
            <a:ext cx="3383280" cy="54864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là tấn công (Is Attack IP)</a:t>
            </a:r>
            <a:endParaRPr lang="en-US" sz="1300" dirty="0"/>
          </a:p>
        </p:txBody>
      </p:sp>
      <p:sp>
        <p:nvSpPr>
          <p:cNvPr id="10" name="Shape 8"/>
          <p:cNvSpPr/>
          <p:nvPr/>
        </p:nvSpPr>
        <p:spPr>
          <a:xfrm>
            <a:off x="7955280" y="1783080"/>
            <a:ext cx="3383280" cy="1600200"/>
          </a:xfrm>
          <a:prstGeom prst="roundRect">
            <a:avLst>
              <a:gd name="adj" fmla="val 5714"/>
            </a:avLst>
          </a:prstGeom>
          <a:solidFill>
            <a:srgbClr val="132747"/>
          </a:solidFill>
          <a:ln/>
        </p:spPr>
        <p:txBody>
          <a:bodyPr/>
          <a:p/>
        </p:txBody>
      </p:sp>
      <p:sp>
        <p:nvSpPr>
          <p:cNvPr id="11" name="Text 9"/>
          <p:cNvSpPr/>
          <p:nvPr/>
        </p:nvSpPr>
        <p:spPr>
          <a:xfrm>
            <a:off x="7955280" y="1901952"/>
            <a:ext cx="3383280" cy="868680"/>
          </a:xfrm>
          <a:prstGeom prst="rect">
            <a:avLst/>
          </a:prstGeom>
          <a:noFill/>
          <a:ln/>
        </p:spPr>
        <p:txBody>
          <a:bodyPr wrap="square" rtlCol="0" anchor="ctr"/>
          <a:lstStyle/>
          <a:p>
            <a:pPr algn="ctr" indent="0" marL="0">
              <a:buNone/>
            </a:pPr>
            <a:r>
              <a:rPr lang="en-US" sz="3800" b="1" dirty="0">
                <a:solidFill>
                  <a:srgbClr val="CADCFC"/>
                </a:solidFill>
                <a:latin typeface="Cambria" pitchFamily="34" charset="0"/>
                <a:ea typeface="Cambria" pitchFamily="34" charset="-122"/>
                <a:cs typeface="Cambria" pitchFamily="34" charset="-120"/>
              </a:rPr>
              <a:t>16</a:t>
            </a:r>
            <a:endParaRPr lang="en-US" sz="3800" dirty="0"/>
          </a:p>
        </p:txBody>
      </p:sp>
      <p:sp>
        <p:nvSpPr>
          <p:cNvPr id="12" name="Text 10"/>
          <p:cNvSpPr/>
          <p:nvPr/>
        </p:nvSpPr>
        <p:spPr>
          <a:xfrm>
            <a:off x="7955280" y="2697480"/>
            <a:ext cx="3383280" cy="548640"/>
          </a:xfrm>
          <a:prstGeom prst="rect">
            <a:avLst/>
          </a:prstGeom>
          <a:noFill/>
          <a:ln/>
        </p:spPr>
        <p:txBody>
          <a:bodyPr wrap="square"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cột đặc trưng thô</a:t>
            </a:r>
            <a:endParaRPr lang="en-US" sz="1300" dirty="0"/>
          </a:p>
        </p:txBody>
      </p:sp>
      <p:sp>
        <p:nvSpPr>
          <p:cNvPr id="13" name="Text 11"/>
          <p:cNvSpPr/>
          <p:nvPr/>
        </p:nvSpPr>
        <p:spPr>
          <a:xfrm>
            <a:off x="548640" y="3611880"/>
            <a:ext cx="11064240" cy="457200"/>
          </a:xfrm>
          <a:prstGeom prst="rect">
            <a:avLst/>
          </a:prstGeom>
          <a:noFill/>
          <a:ln/>
        </p:spPr>
        <p:txBody>
          <a:bodyPr wrap="square" rtlCol="0" anchor="ctr"/>
          <a:lstStyle/>
          <a:p>
            <a:pPr indent="0" marL="0">
              <a:buNone/>
            </a:pPr>
            <a:r>
              <a:rPr lang="en-US" sz="1600" i="1" dirty="0">
                <a:solidFill>
                  <a:srgbClr val="52514E"/>
                </a:solidFill>
                <a:latin typeface="Calibri" pitchFamily="34" charset="0"/>
                <a:ea typeface="Calibri" pitchFamily="34" charset="-122"/>
                <a:cs typeface="Calibri" pitchFamily="34" charset="-120"/>
              </a:rPr>
              <a:t>Nguồn: “Login Data Set for Risk-Based Authentication” (Wiefling, Lo Iacono, Dürmuth) — dữ liệu log đăng nhập thật đã ẩn danh hoá.</a:t>
            </a:r>
            <a:endParaRPr lang="en-US" sz="1250" dirty="0"/>
          </a:p>
        </p:txBody>
      </p:sp>
      <p:sp>
        <p:nvSpPr>
          <p:cNvPr id="14" name="Shape 12"/>
          <p:cNvSpPr/>
          <p:nvPr/>
        </p:nvSpPr>
        <p:spPr>
          <a:xfrm>
            <a:off x="548640" y="4325112"/>
            <a:ext cx="146304" cy="146304"/>
          </a:xfrm>
          <a:prstGeom prst="ellipse">
            <a:avLst/>
          </a:prstGeom>
          <a:solidFill>
            <a:srgbClr val="1C7293"/>
          </a:solidFill>
          <a:ln/>
        </p:spPr>
        <p:txBody>
          <a:bodyPr/>
          <a:p/>
        </p:txBody>
      </p:sp>
      <p:sp>
        <p:nvSpPr>
          <p:cNvPr id="15" name="Text 13"/>
          <p:cNvSpPr/>
          <p:nvPr/>
        </p:nvSpPr>
        <p:spPr>
          <a:xfrm>
            <a:off x="841248" y="4251960"/>
            <a:ext cx="5120640" cy="548640"/>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Login Timestamp, User ID, Round-Trip Time</a:t>
            </a:r>
            <a:endParaRPr lang="en-US" sz="1350" dirty="0"/>
          </a:p>
        </p:txBody>
      </p:sp>
      <p:sp>
        <p:nvSpPr>
          <p:cNvPr id="16" name="Shape 14"/>
          <p:cNvSpPr/>
          <p:nvPr/>
        </p:nvSpPr>
        <p:spPr>
          <a:xfrm>
            <a:off x="6126480" y="4325112"/>
            <a:ext cx="146304" cy="146304"/>
          </a:xfrm>
          <a:prstGeom prst="ellipse">
            <a:avLst/>
          </a:prstGeom>
          <a:solidFill>
            <a:srgbClr val="1C7293"/>
          </a:solidFill>
          <a:ln/>
        </p:spPr>
        <p:txBody>
          <a:bodyPr/>
          <a:p/>
        </p:txBody>
      </p:sp>
      <p:sp>
        <p:nvSpPr>
          <p:cNvPr id="17" name="Text 15"/>
          <p:cNvSpPr/>
          <p:nvPr/>
        </p:nvSpPr>
        <p:spPr>
          <a:xfrm>
            <a:off x="6419088" y="4251960"/>
            <a:ext cx="5120640" cy="548640"/>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Country, Region, City, ASN</a:t>
            </a:r>
            <a:endParaRPr lang="en-US" sz="1350" dirty="0"/>
          </a:p>
        </p:txBody>
      </p:sp>
      <p:sp>
        <p:nvSpPr>
          <p:cNvPr id="18" name="Shape 16"/>
          <p:cNvSpPr/>
          <p:nvPr/>
        </p:nvSpPr>
        <p:spPr>
          <a:xfrm>
            <a:off x="548640" y="5010912"/>
            <a:ext cx="146304" cy="146304"/>
          </a:xfrm>
          <a:prstGeom prst="ellipse">
            <a:avLst/>
          </a:prstGeom>
          <a:solidFill>
            <a:srgbClr val="1C7293"/>
          </a:solidFill>
          <a:ln/>
        </p:spPr>
        <p:txBody>
          <a:bodyPr/>
          <a:p/>
        </p:txBody>
      </p:sp>
      <p:sp>
        <p:nvSpPr>
          <p:cNvPr id="19" name="Text 17"/>
          <p:cNvSpPr/>
          <p:nvPr/>
        </p:nvSpPr>
        <p:spPr>
          <a:xfrm>
            <a:off x="841248" y="4937760"/>
            <a:ext cx="5120640" cy="548640"/>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Device Type, Browser, OS</a:t>
            </a:r>
            <a:endParaRPr lang="en-US" sz="1350" dirty="0"/>
          </a:p>
        </p:txBody>
      </p:sp>
      <p:sp>
        <p:nvSpPr>
          <p:cNvPr id="20" name="Shape 18"/>
          <p:cNvSpPr/>
          <p:nvPr/>
        </p:nvSpPr>
        <p:spPr>
          <a:xfrm>
            <a:off x="6126480" y="5010912"/>
            <a:ext cx="146304" cy="146304"/>
          </a:xfrm>
          <a:prstGeom prst="ellipse">
            <a:avLst/>
          </a:prstGeom>
          <a:solidFill>
            <a:srgbClr val="1C7293"/>
          </a:solidFill>
          <a:ln/>
        </p:spPr>
        <p:txBody>
          <a:bodyPr/>
          <a:p/>
        </p:txBody>
      </p:sp>
      <p:sp>
        <p:nvSpPr>
          <p:cNvPr id="21" name="Text 19"/>
          <p:cNvSpPr/>
          <p:nvPr/>
        </p:nvSpPr>
        <p:spPr>
          <a:xfrm>
            <a:off x="6419088" y="4937760"/>
            <a:ext cx="5120640" cy="548640"/>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Login Successful, Is Attack IP, Is Account Takeover</a:t>
            </a:r>
            <a:endParaRPr lang="en-US" sz="1350" dirty="0"/>
          </a:p>
        </p:txBody>
      </p:sp>
      <p:sp>
        <p:nvSpPr>
          <p:cNvPr id="22" name="Text 20"/>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1 · BÀI TOÁN</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Vì sao chọn nhãn “Is Attack IP”?</a:t>
            </a:r>
            <a:endParaRPr lang="en-US" sz="3200" dirty="0"/>
          </a:p>
        </p:txBody>
      </p:sp>
      <p:sp>
        <p:nvSpPr>
          <p:cNvPr id="4" name="Shape 2"/>
          <p:cNvSpPr/>
          <p:nvPr/>
        </p:nvSpPr>
        <p:spPr>
          <a:xfrm>
            <a:off x="548640" y="1920240"/>
            <a:ext cx="3566160" cy="3291840"/>
          </a:xfrm>
          <a:prstGeom prst="roundRect">
            <a:avLst>
              <a:gd name="adj" fmla="val 3333"/>
            </a:avLst>
          </a:prstGeom>
          <a:solidFill>
            <a:srgbClr val="FFFFFF"/>
          </a:solidFill>
          <a:ln w="19050">
            <a:solidFill>
              <a:srgbClr val="E1E0D9"/>
            </a:solidFill>
            <a:prstDash val="solid"/>
          </a:ln>
          <a:effectLst>
            <a:outerShdw sx="100000" sy="100000" kx="0" ky="0" algn="bl" rotWithShape="0" blurRad="127000" dist="50800" dir="5400000">
              <a:srgbClr val="000000">
                <a:alpha val="10000"/>
              </a:srgbClr>
            </a:outerShdw>
          </a:effectLst>
        </p:spPr>
        <p:txBody>
          <a:bodyPr/>
          <a:p/>
        </p:txBody>
      </p:sp>
      <p:sp>
        <p:nvSpPr>
          <p:cNvPr id="5" name="Text 3"/>
          <p:cNvSpPr/>
          <p:nvPr/>
        </p:nvSpPr>
        <p:spPr>
          <a:xfrm>
            <a:off x="548640" y="2148840"/>
            <a:ext cx="3566160" cy="365760"/>
          </a:xfrm>
          <a:prstGeom prst="rect">
            <a:avLst/>
          </a:prstGeom>
          <a:noFill/>
          <a:ln/>
        </p:spPr>
        <p:txBody>
          <a:bodyPr wrap="square" rtlCol="0" anchor="ctr"/>
          <a:lstStyle/>
          <a:p>
            <a:pPr algn="ctr" indent="0" marL="0">
              <a:buNone/>
            </a:pPr>
            <a:r>
              <a:rPr lang="en-US" sz="1600" b="1" dirty="0">
                <a:solidFill>
                  <a:srgbClr val="D03B3B"/>
                </a:solidFill>
                <a:latin typeface="Calibri" pitchFamily="34" charset="0"/>
                <a:ea typeface="Calibri" pitchFamily="34" charset="-122"/>
                <a:cs typeface="Calibri" pitchFamily="34" charset="-120"/>
              </a:rPr>
              <a:t>✗ Không dùng</a:t>
            </a:r>
            <a:endParaRPr lang="en-US" sz="1300" dirty="0"/>
          </a:p>
        </p:txBody>
      </p:sp>
      <p:sp>
        <p:nvSpPr>
          <p:cNvPr id="6" name="Text 4"/>
          <p:cNvSpPr/>
          <p:nvPr/>
        </p:nvSpPr>
        <p:spPr>
          <a:xfrm>
            <a:off x="731520" y="2651760"/>
            <a:ext cx="3200400" cy="822960"/>
          </a:xfrm>
          <a:prstGeom prst="rect">
            <a:avLst/>
          </a:prstGeom>
          <a:noFill/>
          <a:ln/>
        </p:spPr>
        <p:txBody>
          <a:bodyPr wrap="square" rtlCol="0" anchor="ctr"/>
          <a:lstStyle/>
          <a:p>
            <a:pPr algn="ctr" indent="0" marL="0">
              <a:buNone/>
            </a:pPr>
            <a:r>
              <a:rPr lang="en-US" sz="1800" b="1" dirty="0">
                <a:solidFill>
                  <a:srgbClr val="232323"/>
                </a:solidFill>
                <a:latin typeface="Cambria" pitchFamily="34" charset="0"/>
                <a:ea typeface="Cambria" pitchFamily="34" charset="-122"/>
                <a:cs typeface="Cambria" pitchFamily="34" charset="-120"/>
              </a:rPr>
              <a:t>Is Account Takeover</a:t>
            </a:r>
            <a:endParaRPr lang="en-US" sz="1800" dirty="0"/>
          </a:p>
        </p:txBody>
      </p:sp>
      <p:sp>
        <p:nvSpPr>
          <p:cNvPr id="7" name="Text 5"/>
          <p:cNvSpPr/>
          <p:nvPr/>
        </p:nvSpPr>
        <p:spPr>
          <a:xfrm>
            <a:off x="731520" y="3611880"/>
            <a:ext cx="3200400" cy="1371600"/>
          </a:xfrm>
          <a:prstGeom prst="rect">
            <a:avLst/>
          </a:prstGeom>
          <a:noFill/>
          <a:ln/>
        </p:spPr>
        <p:txBody>
          <a:bodyPr wrap="square" rtlCol="0" anchor="ctr"/>
          <a:lstStyle/>
          <a:p>
            <a:pPr algn="ctr" indent="0" marL="0">
              <a:lnSpc>
                <a:spcPts val="1900"/>
              </a:lnSpc>
              <a:buNone/>
            </a:pPr>
            <a:r>
              <a:rPr lang="en-US" sz="1600" dirty="0">
                <a:solidFill>
                  <a:srgbClr val="52514E"/>
                </a:solidFill>
                <a:latin typeface="Calibri" pitchFamily="34" charset="0"/>
                <a:ea typeface="Calibri" pitchFamily="34" charset="-122"/>
                <a:cs typeface="Calibri" pitchFamily="34" charset="-120"/>
              </a:rPr>
              <a:t>Chỉ ~4 mẫu dương / 500.000 dòng</a:t>
            </a:r>
            <a:endParaRPr lang="en-US" sz="1300" dirty="0"/>
          </a:p>
          <a:p>
            <a:pPr algn="ctr" indent="0" marL="0">
              <a:lnSpc>
                <a:spcPts val="1900"/>
              </a:lnSpc>
              <a:buNone/>
            </a:pPr>
            <a:r>
              <a:rPr lang="en-US" sz="1600" dirty="0">
                <a:solidFill>
                  <a:srgbClr val="52514E"/>
                </a:solidFill>
                <a:latin typeface="Calibri" pitchFamily="34" charset="0"/>
                <a:ea typeface="Calibri" pitchFamily="34" charset="-122"/>
                <a:cs typeface="Calibri" pitchFamily="34" charset="-120"/>
              </a:rPr>
              <a:t>→ quá ít để học</a:t>
            </a:r>
            <a:endParaRPr lang="en-US" sz="1300" dirty="0"/>
          </a:p>
        </p:txBody>
      </p:sp>
      <p:sp>
        <p:nvSpPr>
          <p:cNvPr id="8" name="Shape 6"/>
          <p:cNvSpPr/>
          <p:nvPr/>
        </p:nvSpPr>
        <p:spPr>
          <a:xfrm>
            <a:off x="4343400" y="1920240"/>
            <a:ext cx="3566160" cy="3291840"/>
          </a:xfrm>
          <a:prstGeom prst="roundRect">
            <a:avLst>
              <a:gd name="adj" fmla="val 3333"/>
            </a:avLst>
          </a:prstGeom>
          <a:solidFill>
            <a:srgbClr val="FFFFFF"/>
          </a:solidFill>
          <a:ln w="19050">
            <a:solidFill>
              <a:srgbClr val="E1E0D9"/>
            </a:solidFill>
            <a:prstDash val="solid"/>
          </a:ln>
          <a:effectLst>
            <a:outerShdw sx="100000" sy="100000" kx="0" ky="0" algn="bl" rotWithShape="0" blurRad="127000" dist="50800" dir="5400000">
              <a:srgbClr val="000000">
                <a:alpha val="10000"/>
              </a:srgbClr>
            </a:outerShdw>
          </a:effectLst>
        </p:spPr>
        <p:txBody>
          <a:bodyPr/>
          <a:p/>
        </p:txBody>
      </p:sp>
      <p:sp>
        <p:nvSpPr>
          <p:cNvPr id="9" name="Text 7"/>
          <p:cNvSpPr/>
          <p:nvPr/>
        </p:nvSpPr>
        <p:spPr>
          <a:xfrm>
            <a:off x="4343400" y="2148840"/>
            <a:ext cx="3566160" cy="365760"/>
          </a:xfrm>
          <a:prstGeom prst="rect">
            <a:avLst/>
          </a:prstGeom>
          <a:noFill/>
          <a:ln/>
        </p:spPr>
        <p:txBody>
          <a:bodyPr wrap="square" rtlCol="0" anchor="ctr"/>
          <a:lstStyle/>
          <a:p>
            <a:pPr algn="ctr" indent="0" marL="0">
              <a:buNone/>
            </a:pPr>
            <a:r>
              <a:rPr lang="en-US" sz="1600" b="1" dirty="0">
                <a:solidFill>
                  <a:srgbClr val="D03B3B"/>
                </a:solidFill>
                <a:latin typeface="Calibri" pitchFamily="34" charset="0"/>
                <a:ea typeface="Calibri" pitchFamily="34" charset="-122"/>
                <a:cs typeface="Calibri" pitchFamily="34" charset="-120"/>
              </a:rPr>
              <a:t>✗ Không dùng</a:t>
            </a:r>
            <a:endParaRPr lang="en-US" sz="1300" dirty="0"/>
          </a:p>
        </p:txBody>
      </p:sp>
      <p:sp>
        <p:nvSpPr>
          <p:cNvPr id="10" name="Text 8"/>
          <p:cNvSpPr/>
          <p:nvPr/>
        </p:nvSpPr>
        <p:spPr>
          <a:xfrm>
            <a:off x="4526280" y="2651760"/>
            <a:ext cx="3200400" cy="822960"/>
          </a:xfrm>
          <a:prstGeom prst="rect">
            <a:avLst/>
          </a:prstGeom>
          <a:noFill/>
          <a:ln/>
        </p:spPr>
        <p:txBody>
          <a:bodyPr wrap="square" rtlCol="0" anchor="ctr"/>
          <a:lstStyle/>
          <a:p>
            <a:pPr algn="ctr" indent="0" marL="0">
              <a:buNone/>
            </a:pPr>
            <a:r>
              <a:rPr lang="en-US" sz="1800" b="1" dirty="0">
                <a:solidFill>
                  <a:srgbClr val="232323"/>
                </a:solidFill>
                <a:latin typeface="Cambria" pitchFamily="34" charset="0"/>
                <a:ea typeface="Cambria" pitchFamily="34" charset="-122"/>
                <a:cs typeface="Cambria" pitchFamily="34" charset="-120"/>
              </a:rPr>
              <a:t>Login Successful</a:t>
            </a:r>
            <a:endParaRPr lang="en-US" sz="1800" dirty="0"/>
          </a:p>
        </p:txBody>
      </p:sp>
      <p:sp>
        <p:nvSpPr>
          <p:cNvPr id="11" name="Text 9"/>
          <p:cNvSpPr/>
          <p:nvPr/>
        </p:nvSpPr>
        <p:spPr>
          <a:xfrm>
            <a:off x="4526280" y="3611880"/>
            <a:ext cx="3200400" cy="1371600"/>
          </a:xfrm>
          <a:prstGeom prst="rect">
            <a:avLst/>
          </a:prstGeom>
          <a:noFill/>
          <a:ln/>
        </p:spPr>
        <p:txBody>
          <a:bodyPr wrap="square" rtlCol="0" anchor="ctr"/>
          <a:lstStyle/>
          <a:p>
            <a:pPr algn="ctr" indent="0" marL="0">
              <a:lnSpc>
                <a:spcPts val="1900"/>
              </a:lnSpc>
              <a:buNone/>
            </a:pPr>
            <a:r>
              <a:rPr lang="en-US" sz="1600" dirty="0">
                <a:solidFill>
                  <a:srgbClr val="52514E"/>
                </a:solidFill>
                <a:latin typeface="Calibri" pitchFamily="34" charset="0"/>
                <a:ea typeface="Calibri" pitchFamily="34" charset="-122"/>
                <a:cs typeface="Calibri" pitchFamily="34" charset="-120"/>
              </a:rPr>
              <a:t>Phản ánh lỗi kỹ thuật</a:t>
            </a:r>
            <a:endParaRPr lang="en-US" sz="1300" dirty="0"/>
          </a:p>
          <a:p>
            <a:pPr algn="ctr" indent="0" marL="0">
              <a:lnSpc>
                <a:spcPts val="1900"/>
              </a:lnSpc>
              <a:buNone/>
            </a:pPr>
            <a:r>
              <a:rPr lang="en-US" sz="1600" dirty="0">
                <a:solidFill>
                  <a:srgbClr val="52514E"/>
                </a:solidFill>
                <a:latin typeface="Calibri" pitchFamily="34" charset="0"/>
                <a:ea typeface="Calibri" pitchFamily="34" charset="-122"/>
                <a:cs typeface="Calibri" pitchFamily="34" charset="-120"/>
              </a:rPr>
              <a:t>hơn là rủi ro bảo mật</a:t>
            </a:r>
            <a:endParaRPr lang="en-US" sz="1300" dirty="0"/>
          </a:p>
        </p:txBody>
      </p:sp>
      <p:sp>
        <p:nvSpPr>
          <p:cNvPr id="12" name="Shape 10"/>
          <p:cNvSpPr/>
          <p:nvPr/>
        </p:nvSpPr>
        <p:spPr>
          <a:xfrm>
            <a:off x="8138160" y="1920240"/>
            <a:ext cx="3566160" cy="3291840"/>
          </a:xfrm>
          <a:prstGeom prst="roundRect">
            <a:avLst>
              <a:gd name="adj" fmla="val 3333"/>
            </a:avLst>
          </a:prstGeom>
          <a:solidFill>
            <a:srgbClr val="1C7293"/>
          </a:solidFill>
          <a:ln w="19050">
            <a:solidFill>
              <a:srgbClr val="1C7293"/>
            </a:solidFill>
            <a:prstDash val="solid"/>
          </a:ln>
          <a:effectLst>
            <a:outerShdw sx="100000" sy="100000" kx="0" ky="0" algn="bl" rotWithShape="0" blurRad="127000" dist="50800" dir="5400000">
              <a:srgbClr val="000000">
                <a:alpha val="22000"/>
              </a:srgbClr>
            </a:outerShdw>
          </a:effectLst>
        </p:spPr>
        <p:txBody>
          <a:bodyPr/>
          <a:p/>
        </p:txBody>
      </p:sp>
      <p:sp>
        <p:nvSpPr>
          <p:cNvPr id="13" name="Text 11"/>
          <p:cNvSpPr/>
          <p:nvPr/>
        </p:nvSpPr>
        <p:spPr>
          <a:xfrm>
            <a:off x="8138160" y="2148840"/>
            <a:ext cx="3566160" cy="365760"/>
          </a:xfrm>
          <a:prstGeom prst="rect">
            <a:avLst/>
          </a:prstGeom>
          <a:noFill/>
          <a:ln/>
        </p:spPr>
        <p:txBody>
          <a:bodyPr wrap="square" rtlCol="0" anchor="ctr"/>
          <a:lstStyle/>
          <a:p>
            <a:pPr algn="ctr" indent="0" marL="0">
              <a:buNone/>
            </a:pPr>
            <a:r>
              <a:rPr lang="en-US" sz="1600" b="1" dirty="0">
                <a:solidFill>
                  <a:srgbClr val="CADCFC"/>
                </a:solidFill>
                <a:latin typeface="Calibri" pitchFamily="34" charset="0"/>
                <a:ea typeface="Calibri" pitchFamily="34" charset="-122"/>
                <a:cs typeface="Calibri" pitchFamily="34" charset="-120"/>
              </a:rPr>
              <a:t>✓ ĐÃ CHỌN</a:t>
            </a:r>
            <a:endParaRPr lang="en-US" sz="1300" dirty="0"/>
          </a:p>
        </p:txBody>
      </p:sp>
      <p:sp>
        <p:nvSpPr>
          <p:cNvPr id="14" name="Text 12"/>
          <p:cNvSpPr/>
          <p:nvPr/>
        </p:nvSpPr>
        <p:spPr>
          <a:xfrm>
            <a:off x="8321040" y="2651760"/>
            <a:ext cx="3200400" cy="82296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Is Attack IP</a:t>
            </a:r>
            <a:endParaRPr lang="en-US" sz="1800" dirty="0"/>
          </a:p>
        </p:txBody>
      </p:sp>
      <p:sp>
        <p:nvSpPr>
          <p:cNvPr id="15" name="Text 13"/>
          <p:cNvSpPr/>
          <p:nvPr/>
        </p:nvSpPr>
        <p:spPr>
          <a:xfrm>
            <a:off x="8321040" y="3611880"/>
            <a:ext cx="3200400" cy="1371600"/>
          </a:xfrm>
          <a:prstGeom prst="rect">
            <a:avLst/>
          </a:prstGeom>
          <a:noFill/>
          <a:ln/>
        </p:spPr>
        <p:txBody>
          <a:bodyPr wrap="square" rtlCol="0" anchor="ctr"/>
          <a:lstStyle/>
          <a:p>
            <a:pPr algn="ctr" indent="0" marL="0">
              <a:lnSpc>
                <a:spcPts val="1900"/>
              </a:lnSpc>
              <a:buNone/>
            </a:pPr>
            <a:r>
              <a:rPr lang="en-US" sz="1600" dirty="0">
                <a:solidFill>
                  <a:srgbClr val="FFFFFF"/>
                </a:solidFill>
                <a:latin typeface="Calibri" pitchFamily="34" charset="0"/>
                <a:ea typeface="Calibri" pitchFamily="34" charset="-122"/>
                <a:cs typeface="Calibri" pitchFamily="34" charset="-120"/>
              </a:rPr>
              <a:t>~3% dương — đủ dữ liệu</a:t>
            </a:r>
            <a:endParaRPr lang="en-US" sz="1300" dirty="0"/>
          </a:p>
          <a:p>
            <a:pPr algn="ctr" indent="0" marL="0">
              <a:lnSpc>
                <a:spcPts val="1900"/>
              </a:lnSpc>
              <a:buNone/>
            </a:pPr>
            <a:r>
              <a:rPr lang="en-US" sz="1600" dirty="0">
                <a:solidFill>
                  <a:srgbClr val="FFFFFF"/>
                </a:solidFill>
                <a:latin typeface="Calibri" pitchFamily="34" charset="0"/>
                <a:ea typeface="Calibri" pitchFamily="34" charset="-122"/>
                <a:cs typeface="Calibri" pitchFamily="34" charset="-120"/>
              </a:rPr>
              <a:t>và đúng bản chất bài toán</a:t>
            </a:r>
            <a:endParaRPr lang="en-US" sz="1300" dirty="0"/>
          </a:p>
        </p:txBody>
      </p:sp>
      <p:sp>
        <p:nvSpPr>
          <p:cNvPr id="16" name="Text 14"/>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2 · KIẾN TRÚC HỆ THỐNG</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Mô hình lai: MLP + Mamdani Fuzzy</a:t>
            </a:r>
            <a:endParaRPr lang="en-US" sz="3200" dirty="0"/>
          </a:p>
        </p:txBody>
      </p:sp>
      <p:pic>
        <p:nvPicPr>
          <p:cNvPr id="4" name="Image 0" descr="D:/06.BT/MachineLearningAdvance/CuoiKy/BaoCao_Assets/hinh1_kien_truc_tong_the.png">    </p:cNvPr>
          <p:cNvPicPr>
            <a:picLocks noChangeAspect="1"/>
          </p:cNvPicPr>
          <p:nvPr/>
        </p:nvPicPr>
        <p:blipFill>
          <a:blip r:embed="rId1"/>
          <a:stretch>
            <a:fillRect/>
          </a:stretch>
        </p:blipFill>
        <p:spPr>
          <a:xfrm>
            <a:off x="2689816" y="1600200"/>
            <a:ext cx="6809320" cy="512064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2 · KIẾN TRÚC HỆ THỐNG</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Trích xuất đặc trưng (Feature Engineering)</a:t>
            </a:r>
            <a:endParaRPr lang="en-US" sz="3200" dirty="0"/>
          </a:p>
        </p:txBody>
      </p:sp>
      <p:sp>
        <p:nvSpPr>
          <p:cNvPr id="4" name="Text 2"/>
          <p:cNvSpPr/>
          <p:nvPr/>
        </p:nvSpPr>
        <p:spPr>
          <a:xfrm>
            <a:off x="548640" y="1554480"/>
            <a:ext cx="11064240" cy="411480"/>
          </a:xfrm>
          <a:prstGeom prst="rect">
            <a:avLst/>
          </a:prstGeom>
          <a:noFill/>
          <a:ln/>
        </p:spPr>
        <p:txBody>
          <a:bodyPr wrap="square" rtlCol="0" anchor="ctr"/>
          <a:lstStyle/>
          <a:p>
            <a:pPr indent="0" marL="0">
              <a:buNone/>
            </a:pPr>
            <a:r>
              <a:rPr lang="en-US" sz="1600" i="1" dirty="0">
                <a:solidFill>
                  <a:srgbClr val="1C7293"/>
                </a:solidFill>
                <a:latin typeface="Calibri" pitchFamily="34" charset="0"/>
                <a:ea typeface="Calibri" pitchFamily="34" charset="-122"/>
                <a:cs typeface="Calibri" pitchFamily="34" charset="-120"/>
              </a:rPr>
              <a:t>Đặc trưng “lịch sử người dùng” chỉ dùng thông tin TRƯỚC ĐÓ (shift theo thời gian) — tránh Data Leakage.</a:t>
            </a:r>
            <a:endParaRPr lang="en-US" sz="1350" dirty="0"/>
          </a:p>
        </p:txBody>
      </p:sp>
      <p:sp>
        <p:nvSpPr>
          <p:cNvPr id="5" name="Shape 3"/>
          <p:cNvSpPr/>
          <p:nvPr/>
        </p:nvSpPr>
        <p:spPr>
          <a:xfrm>
            <a:off x="548640" y="2148840"/>
            <a:ext cx="3566160" cy="1920240"/>
          </a:xfrm>
          <a:prstGeom prst="roundRect">
            <a:avLst>
              <a:gd name="adj" fmla="val 4762"/>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6" name="Shape 4"/>
          <p:cNvSpPr/>
          <p:nvPr/>
        </p:nvSpPr>
        <p:spPr>
          <a:xfrm>
            <a:off x="749808" y="2350008"/>
            <a:ext cx="548640" cy="548640"/>
          </a:xfrm>
          <a:prstGeom prst="ellipse">
            <a:avLst/>
          </a:prstGeom>
          <a:solidFill>
            <a:srgbClr val="132747"/>
          </a:solidFill>
          <a:ln/>
        </p:spPr>
        <p:txBody>
          <a:bodyPr/>
          <a:p/>
        </p:txBody>
      </p:sp>
      <p:sp>
        <p:nvSpPr>
          <p:cNvPr id="7" name="Text 5"/>
          <p:cNvSpPr/>
          <p:nvPr/>
        </p:nvSpPr>
        <p:spPr>
          <a:xfrm>
            <a:off x="749808" y="2350008"/>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1417320" y="2368296"/>
            <a:ext cx="2560320" cy="51206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Thời gian</a:t>
            </a:r>
            <a:endParaRPr lang="en-US" sz="1450" dirty="0"/>
          </a:p>
        </p:txBody>
      </p:sp>
      <p:sp>
        <p:nvSpPr>
          <p:cNvPr id="9" name="Text 7"/>
          <p:cNvSpPr/>
          <p:nvPr/>
        </p:nvSpPr>
        <p:spPr>
          <a:xfrm>
            <a:off x="749808" y="3017520"/>
            <a:ext cx="3163824" cy="914400"/>
          </a:xfrm>
          <a:prstGeom prst="rect">
            <a:avLst/>
          </a:prstGeom>
          <a:noFill/>
          <a:ln/>
        </p:spPr>
        <p:txBody>
          <a:bodyPr wrap="square" rtlCol="0" anchor="ctr"/>
          <a:lstStyle/>
          <a:p>
            <a:pPr indent="0" marL="0">
              <a:lnSpc>
                <a:spcPts val="1400"/>
              </a:lnSpc>
              <a:buNone/>
            </a:pPr>
            <a:r>
              <a:rPr lang="en-US" sz="1600" dirty="0">
                <a:solidFill>
                  <a:srgbClr val="52514E"/>
                </a:solidFill>
                <a:latin typeface="Calibri" pitchFamily="34" charset="0"/>
                <a:ea typeface="Calibri" pitchFamily="34" charset="-122"/>
                <a:cs typeface="Calibri" pitchFamily="34" charset="-120"/>
              </a:rPr>
              <a:t>hour_of_day, day_of_week, is_weekend, is_odd_hour</a:t>
            </a:r>
            <a:endParaRPr lang="en-US" sz="1080" dirty="0"/>
          </a:p>
        </p:txBody>
      </p:sp>
      <p:sp>
        <p:nvSpPr>
          <p:cNvPr id="10" name="Shape 8"/>
          <p:cNvSpPr/>
          <p:nvPr/>
        </p:nvSpPr>
        <p:spPr>
          <a:xfrm>
            <a:off x="4297680" y="2148840"/>
            <a:ext cx="3566160" cy="1920240"/>
          </a:xfrm>
          <a:prstGeom prst="roundRect">
            <a:avLst>
              <a:gd name="adj" fmla="val 4762"/>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11" name="Shape 9"/>
          <p:cNvSpPr/>
          <p:nvPr/>
        </p:nvSpPr>
        <p:spPr>
          <a:xfrm>
            <a:off x="4498848" y="2350008"/>
            <a:ext cx="548640" cy="548640"/>
          </a:xfrm>
          <a:prstGeom prst="ellipse">
            <a:avLst/>
          </a:prstGeom>
          <a:solidFill>
            <a:srgbClr val="132747"/>
          </a:solidFill>
          <a:ln/>
        </p:spPr>
        <p:txBody>
          <a:bodyPr/>
          <a:p/>
        </p:txBody>
      </p:sp>
      <p:sp>
        <p:nvSpPr>
          <p:cNvPr id="12" name="Text 10"/>
          <p:cNvSpPr/>
          <p:nvPr/>
        </p:nvSpPr>
        <p:spPr>
          <a:xfrm>
            <a:off x="4498848" y="2350008"/>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5166360" y="2368296"/>
            <a:ext cx="2560320" cy="51206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Mạng</a:t>
            </a:r>
            <a:endParaRPr lang="en-US" sz="1450" dirty="0"/>
          </a:p>
        </p:txBody>
      </p:sp>
      <p:sp>
        <p:nvSpPr>
          <p:cNvPr id="14" name="Text 12"/>
          <p:cNvSpPr/>
          <p:nvPr/>
        </p:nvSpPr>
        <p:spPr>
          <a:xfrm>
            <a:off x="4498848" y="3017520"/>
            <a:ext cx="3163824" cy="914400"/>
          </a:xfrm>
          <a:prstGeom prst="rect">
            <a:avLst/>
          </a:prstGeom>
          <a:noFill/>
          <a:ln/>
        </p:spPr>
        <p:txBody>
          <a:bodyPr wrap="square" rtlCol="0" anchor="ctr"/>
          <a:lstStyle/>
          <a:p>
            <a:pPr indent="0" marL="0">
              <a:lnSpc>
                <a:spcPts val="1400"/>
              </a:lnSpc>
              <a:buNone/>
            </a:pPr>
            <a:r>
              <a:rPr lang="en-US" sz="1600" dirty="0">
                <a:solidFill>
                  <a:srgbClr val="52514E"/>
                </a:solidFill>
                <a:latin typeface="Calibri" pitchFamily="34" charset="0"/>
                <a:ea typeface="Calibri" pitchFamily="34" charset="-122"/>
                <a:cs typeface="Calibri" pitchFamily="34" charset="-120"/>
              </a:rPr>
              <a:t>rtt_filled, rtt_missing</a:t>
            </a:r>
            <a:endParaRPr lang="en-US" sz="1080" dirty="0"/>
          </a:p>
        </p:txBody>
      </p:sp>
      <p:sp>
        <p:nvSpPr>
          <p:cNvPr id="15" name="Shape 13"/>
          <p:cNvSpPr/>
          <p:nvPr/>
        </p:nvSpPr>
        <p:spPr>
          <a:xfrm>
            <a:off x="8046720" y="2148840"/>
            <a:ext cx="3566160" cy="1920240"/>
          </a:xfrm>
          <a:prstGeom prst="roundRect">
            <a:avLst>
              <a:gd name="adj" fmla="val 4762"/>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16" name="Shape 14"/>
          <p:cNvSpPr/>
          <p:nvPr/>
        </p:nvSpPr>
        <p:spPr>
          <a:xfrm>
            <a:off x="8247888" y="2350008"/>
            <a:ext cx="548640" cy="548640"/>
          </a:xfrm>
          <a:prstGeom prst="ellipse">
            <a:avLst/>
          </a:prstGeom>
          <a:solidFill>
            <a:srgbClr val="132747"/>
          </a:solidFill>
          <a:ln/>
        </p:spPr>
        <p:txBody>
          <a:bodyPr/>
          <a:p/>
        </p:txBody>
      </p:sp>
      <p:sp>
        <p:nvSpPr>
          <p:cNvPr id="17" name="Text 15"/>
          <p:cNvSpPr/>
          <p:nvPr/>
        </p:nvSpPr>
        <p:spPr>
          <a:xfrm>
            <a:off x="8247888" y="2350008"/>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8915400" y="2368296"/>
            <a:ext cx="2560320" cy="51206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Độ hiếm toàn cục</a:t>
            </a:r>
            <a:endParaRPr lang="en-US" sz="1450" dirty="0"/>
          </a:p>
        </p:txBody>
      </p:sp>
      <p:sp>
        <p:nvSpPr>
          <p:cNvPr id="19" name="Text 17"/>
          <p:cNvSpPr/>
          <p:nvPr/>
        </p:nvSpPr>
        <p:spPr>
          <a:xfrm>
            <a:off x="8247888" y="3017520"/>
            <a:ext cx="3163824" cy="914400"/>
          </a:xfrm>
          <a:prstGeom prst="rect">
            <a:avLst/>
          </a:prstGeom>
          <a:noFill/>
          <a:ln/>
        </p:spPr>
        <p:txBody>
          <a:bodyPr wrap="square" rtlCol="0" anchor="ctr"/>
          <a:lstStyle/>
          <a:p>
            <a:pPr indent="0" marL="0">
              <a:lnSpc>
                <a:spcPts val="1400"/>
              </a:lnSpc>
              <a:buNone/>
            </a:pPr>
            <a:r>
              <a:rPr lang="en-US" sz="1600" dirty="0">
                <a:solidFill>
                  <a:srgbClr val="52514E"/>
                </a:solidFill>
                <a:latin typeface="Calibri" pitchFamily="34" charset="0"/>
                <a:ea typeface="Calibri" pitchFamily="34" charset="-122"/>
                <a:cs typeface="Calibri" pitchFamily="34" charset="-120"/>
              </a:rPr>
              <a:t>country_rarity, asn_rarity = 1 − tần suất</a:t>
            </a:r>
            <a:endParaRPr lang="en-US" sz="1080" dirty="0"/>
          </a:p>
        </p:txBody>
      </p:sp>
      <p:sp>
        <p:nvSpPr>
          <p:cNvPr id="20" name="Shape 18"/>
          <p:cNvSpPr/>
          <p:nvPr/>
        </p:nvSpPr>
        <p:spPr>
          <a:xfrm>
            <a:off x="548640" y="4297680"/>
            <a:ext cx="3566160" cy="1920240"/>
          </a:xfrm>
          <a:prstGeom prst="roundRect">
            <a:avLst>
              <a:gd name="adj" fmla="val 4762"/>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21" name="Shape 19"/>
          <p:cNvSpPr/>
          <p:nvPr/>
        </p:nvSpPr>
        <p:spPr>
          <a:xfrm>
            <a:off x="749808" y="4498848"/>
            <a:ext cx="548640" cy="548640"/>
          </a:xfrm>
          <a:prstGeom prst="ellipse">
            <a:avLst/>
          </a:prstGeom>
          <a:solidFill>
            <a:srgbClr val="132747"/>
          </a:solidFill>
          <a:ln/>
        </p:spPr>
        <p:txBody>
          <a:bodyPr/>
          <a:p/>
        </p:txBody>
      </p:sp>
      <p:sp>
        <p:nvSpPr>
          <p:cNvPr id="22" name="Text 20"/>
          <p:cNvSpPr/>
          <p:nvPr/>
        </p:nvSpPr>
        <p:spPr>
          <a:xfrm>
            <a:off x="749808" y="4498848"/>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1417320" y="4517136"/>
            <a:ext cx="2560320" cy="51206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Lịch sử user</a:t>
            </a:r>
            <a:endParaRPr lang="en-US" sz="1450" dirty="0"/>
          </a:p>
        </p:txBody>
      </p:sp>
      <p:sp>
        <p:nvSpPr>
          <p:cNvPr id="24" name="Text 22"/>
          <p:cNvSpPr/>
          <p:nvPr/>
        </p:nvSpPr>
        <p:spPr>
          <a:xfrm>
            <a:off x="749808" y="5166360"/>
            <a:ext cx="3163824" cy="914400"/>
          </a:xfrm>
          <a:prstGeom prst="rect">
            <a:avLst/>
          </a:prstGeom>
          <a:noFill/>
          <a:ln/>
        </p:spPr>
        <p:txBody>
          <a:bodyPr wrap="square" rtlCol="0" anchor="ctr"/>
          <a:lstStyle/>
          <a:p>
            <a:pPr indent="0" marL="0">
              <a:lnSpc>
                <a:spcPts val="1400"/>
              </a:lnSpc>
              <a:buNone/>
            </a:pPr>
            <a:r>
              <a:rPr lang="en-US" sz="1600" dirty="0">
                <a:solidFill>
                  <a:srgbClr val="52514E"/>
                </a:solidFill>
                <a:latin typeface="Calibri" pitchFamily="34" charset="0"/>
                <a:ea typeface="Calibri" pitchFamily="34" charset="-122"/>
                <a:cs typeface="Calibri" pitchFamily="34" charset="-120"/>
              </a:rPr>
              <a:t>time_since_last_login_h, is_new_country/city/asn/device, user_success_rate_so_far, num_changes</a:t>
            </a:r>
            <a:endParaRPr lang="en-US" sz="1080" dirty="0"/>
          </a:p>
        </p:txBody>
      </p:sp>
      <p:sp>
        <p:nvSpPr>
          <p:cNvPr id="25" name="Shape 23"/>
          <p:cNvSpPr/>
          <p:nvPr/>
        </p:nvSpPr>
        <p:spPr>
          <a:xfrm>
            <a:off x="4297680" y="4297680"/>
            <a:ext cx="3566160" cy="1920240"/>
          </a:xfrm>
          <a:prstGeom prst="roundRect">
            <a:avLst>
              <a:gd name="adj" fmla="val 4762"/>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26" name="Shape 24"/>
          <p:cNvSpPr/>
          <p:nvPr/>
        </p:nvSpPr>
        <p:spPr>
          <a:xfrm>
            <a:off x="4498848" y="4498848"/>
            <a:ext cx="548640" cy="548640"/>
          </a:xfrm>
          <a:prstGeom prst="ellipse">
            <a:avLst/>
          </a:prstGeom>
          <a:solidFill>
            <a:srgbClr val="132747"/>
          </a:solidFill>
          <a:ln/>
        </p:spPr>
        <p:txBody>
          <a:bodyPr/>
          <a:p/>
        </p:txBody>
      </p:sp>
      <p:sp>
        <p:nvSpPr>
          <p:cNvPr id="27" name="Text 25"/>
          <p:cNvSpPr/>
          <p:nvPr/>
        </p:nvSpPr>
        <p:spPr>
          <a:xfrm>
            <a:off x="4498848" y="4498848"/>
            <a:ext cx="548640" cy="5486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8" name="Text 26"/>
          <p:cNvSpPr/>
          <p:nvPr/>
        </p:nvSpPr>
        <p:spPr>
          <a:xfrm>
            <a:off x="5166360" y="4517136"/>
            <a:ext cx="2560320" cy="51206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Thiết bị</a:t>
            </a:r>
            <a:endParaRPr lang="en-US" sz="1450" dirty="0"/>
          </a:p>
        </p:txBody>
      </p:sp>
      <p:sp>
        <p:nvSpPr>
          <p:cNvPr id="29" name="Text 27"/>
          <p:cNvSpPr/>
          <p:nvPr/>
        </p:nvSpPr>
        <p:spPr>
          <a:xfrm>
            <a:off x="4498848" y="5166360"/>
            <a:ext cx="3163824" cy="914400"/>
          </a:xfrm>
          <a:prstGeom prst="rect">
            <a:avLst/>
          </a:prstGeom>
          <a:noFill/>
          <a:ln/>
        </p:spPr>
        <p:txBody>
          <a:bodyPr wrap="square" rtlCol="0" anchor="ctr"/>
          <a:lstStyle/>
          <a:p>
            <a:pPr indent="0" marL="0">
              <a:lnSpc>
                <a:spcPts val="1400"/>
              </a:lnSpc>
              <a:buNone/>
            </a:pPr>
            <a:r>
              <a:rPr lang="en-US" sz="1600" dirty="0">
                <a:solidFill>
                  <a:srgbClr val="52514E"/>
                </a:solidFill>
                <a:latin typeface="Calibri" pitchFamily="34" charset="0"/>
                <a:ea typeface="Calibri" pitchFamily="34" charset="-122"/>
                <a:cs typeface="Calibri" pitchFamily="34" charset="-120"/>
              </a:rPr>
              <a:t>Device Type (one-hot encoding)</a:t>
            </a:r>
            <a:endParaRPr lang="en-US" sz="1080" dirty="0"/>
          </a:p>
        </p:txBody>
      </p:sp>
      <p:sp>
        <p:nvSpPr>
          <p:cNvPr id="30" name="Text 28"/>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PHẦN 3 · MAMDANI FUZZY LOGIC</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4 bước suy diễn mờ (Mamdani FIS)</a:t>
            </a:r>
            <a:endParaRPr lang="en-US" sz="3200" dirty="0"/>
          </a:p>
        </p:txBody>
      </p:sp>
      <p:sp>
        <p:nvSpPr>
          <p:cNvPr id="4" name="Shape 2"/>
          <p:cNvSpPr/>
          <p:nvPr/>
        </p:nvSpPr>
        <p:spPr>
          <a:xfrm>
            <a:off x="548640" y="2148840"/>
            <a:ext cx="2606040" cy="3566160"/>
          </a:xfrm>
          <a:prstGeom prst="roundRect">
            <a:avLst>
              <a:gd name="adj" fmla="val 4211"/>
            </a:avLst>
          </a:prstGeom>
          <a:solidFill>
            <a:srgbClr val="132747"/>
          </a:solidFill>
          <a:ln w="12700">
            <a:solidFill>
              <a:srgbClr val="1C7293"/>
            </a:solidFill>
            <a:prstDash val="solid"/>
          </a:ln>
        </p:spPr>
        <p:txBody>
          <a:bodyPr/>
          <a:p/>
        </p:txBody>
      </p:sp>
      <p:sp>
        <p:nvSpPr>
          <p:cNvPr id="5" name="Shape 3"/>
          <p:cNvSpPr/>
          <p:nvPr/>
        </p:nvSpPr>
        <p:spPr>
          <a:xfrm>
            <a:off x="1467612" y="2423160"/>
            <a:ext cx="768096" cy="768096"/>
          </a:xfrm>
          <a:prstGeom prst="ellipse">
            <a:avLst/>
          </a:prstGeom>
          <a:solidFill>
            <a:srgbClr val="1C7293"/>
          </a:solidFill>
          <a:ln/>
        </p:spPr>
        <p:txBody>
          <a:bodyPr/>
          <a:p/>
        </p:txBody>
      </p:sp>
      <p:sp>
        <p:nvSpPr>
          <p:cNvPr id="6" name="Text 4"/>
          <p:cNvSpPr/>
          <p:nvPr/>
        </p:nvSpPr>
        <p:spPr>
          <a:xfrm>
            <a:off x="1467612" y="2423160"/>
            <a:ext cx="768096" cy="768096"/>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685800" y="3364992"/>
            <a:ext cx="2331720" cy="502920"/>
          </a:xfrm>
          <a:prstGeom prst="rect">
            <a:avLst/>
          </a:prstGeom>
          <a:noFill/>
          <a:ln/>
        </p:spPr>
        <p:txBody>
          <a:bodyPr wrap="square" rtlCol="0" anchor="ctr"/>
          <a:lstStyle/>
          <a:p>
            <a:pPr algn="ctr" indent="0" marL="0">
              <a:buNone/>
            </a:pPr>
            <a:r>
              <a:rPr lang="en-US" sz="1600" b="1" dirty="0">
                <a:solidFill>
                  <a:srgbClr val="CADCFC"/>
                </a:solidFill>
                <a:latin typeface="Cambria" pitchFamily="34" charset="0"/>
                <a:ea typeface="Cambria" pitchFamily="34" charset="-122"/>
                <a:cs typeface="Cambria" pitchFamily="34" charset="-120"/>
              </a:rPr>
              <a:t>Mờ hóa (Fuzzification)</a:t>
            </a:r>
            <a:endParaRPr lang="en-US" sz="1550" dirty="0"/>
          </a:p>
        </p:txBody>
      </p:sp>
      <p:sp>
        <p:nvSpPr>
          <p:cNvPr id="8" name="Text 6"/>
          <p:cNvSpPr/>
          <p:nvPr/>
        </p:nvSpPr>
        <p:spPr>
          <a:xfrm>
            <a:off x="731520" y="3913632"/>
            <a:ext cx="2240280" cy="1691640"/>
          </a:xfrm>
          <a:prstGeom prst="rect">
            <a:avLst/>
          </a:prstGeom>
          <a:noFill/>
          <a:ln/>
        </p:spPr>
        <p:txBody>
          <a:bodyPr wrap="square" rtlCol="0" anchor="ctr"/>
          <a:lstStyle/>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5 biến → Low/Medium/High</a:t>
            </a:r>
            <a:endParaRPr lang="en-US" sz="1180" dirty="0"/>
          </a:p>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(hàm tam giác, ngưỡng percentile train)</a:t>
            </a:r>
            <a:endParaRPr lang="en-US" sz="1180" dirty="0"/>
          </a:p>
        </p:txBody>
      </p:sp>
      <p:sp>
        <p:nvSpPr>
          <p:cNvPr id="9" name="Text 7"/>
          <p:cNvSpPr/>
          <p:nvPr/>
        </p:nvSpPr>
        <p:spPr>
          <a:xfrm>
            <a:off x="3154680" y="3657600"/>
            <a:ext cx="256032" cy="548640"/>
          </a:xfrm>
          <a:prstGeom prst="rect">
            <a:avLst/>
          </a:prstGeom>
          <a:noFill/>
          <a:ln/>
        </p:spPr>
        <p:txBody>
          <a:bodyPr wrap="square" rtlCol="0" anchor="ctr"/>
          <a:lstStyle/>
          <a:p>
            <a:pPr algn="ctr" indent="0" marL="0">
              <a:buNone/>
            </a:pPr>
            <a:r>
              <a:rPr lang="en-US" sz="2200" b="1" dirty="0">
                <a:solidFill>
                  <a:srgbClr val="1C7293"/>
                </a:solidFill>
              </a:rPr>
              <a:t>→</a:t>
            </a:r>
            <a:endParaRPr lang="en-US" sz="2200" dirty="0"/>
          </a:p>
        </p:txBody>
      </p:sp>
      <p:sp>
        <p:nvSpPr>
          <p:cNvPr id="10" name="Shape 8"/>
          <p:cNvSpPr/>
          <p:nvPr/>
        </p:nvSpPr>
        <p:spPr>
          <a:xfrm>
            <a:off x="3410712" y="2148840"/>
            <a:ext cx="2606040" cy="3566160"/>
          </a:xfrm>
          <a:prstGeom prst="roundRect">
            <a:avLst>
              <a:gd name="adj" fmla="val 4211"/>
            </a:avLst>
          </a:prstGeom>
          <a:solidFill>
            <a:srgbClr val="132747"/>
          </a:solidFill>
          <a:ln w="12700">
            <a:solidFill>
              <a:srgbClr val="1C7293"/>
            </a:solidFill>
            <a:prstDash val="solid"/>
          </a:ln>
        </p:spPr>
        <p:txBody>
          <a:bodyPr/>
          <a:p/>
        </p:txBody>
      </p:sp>
      <p:sp>
        <p:nvSpPr>
          <p:cNvPr id="11" name="Shape 9"/>
          <p:cNvSpPr/>
          <p:nvPr/>
        </p:nvSpPr>
        <p:spPr>
          <a:xfrm>
            <a:off x="4329684" y="2423160"/>
            <a:ext cx="768096" cy="768096"/>
          </a:xfrm>
          <a:prstGeom prst="ellipse">
            <a:avLst/>
          </a:prstGeom>
          <a:solidFill>
            <a:srgbClr val="1C7293"/>
          </a:solidFill>
          <a:ln/>
        </p:spPr>
        <p:txBody>
          <a:bodyPr/>
          <a:p/>
        </p:txBody>
      </p:sp>
      <p:sp>
        <p:nvSpPr>
          <p:cNvPr id="12" name="Text 10"/>
          <p:cNvSpPr/>
          <p:nvPr/>
        </p:nvSpPr>
        <p:spPr>
          <a:xfrm>
            <a:off x="4329684" y="2423160"/>
            <a:ext cx="768096" cy="768096"/>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3547872" y="3364992"/>
            <a:ext cx="2331720" cy="502920"/>
          </a:xfrm>
          <a:prstGeom prst="rect">
            <a:avLst/>
          </a:prstGeom>
          <a:noFill/>
          <a:ln/>
        </p:spPr>
        <p:txBody>
          <a:bodyPr wrap="square" rtlCol="0" anchor="ctr"/>
          <a:lstStyle/>
          <a:p>
            <a:pPr algn="ctr" indent="0" marL="0">
              <a:buNone/>
            </a:pPr>
            <a:r>
              <a:rPr lang="en-US" sz="1600" b="1" dirty="0">
                <a:solidFill>
                  <a:srgbClr val="CADCFC"/>
                </a:solidFill>
                <a:latin typeface="Cambria" pitchFamily="34" charset="0"/>
                <a:ea typeface="Cambria" pitchFamily="34" charset="-122"/>
                <a:cs typeface="Cambria" pitchFamily="34" charset="-120"/>
              </a:rPr>
              <a:t>Đánh giá luật (Rule Evaluation)</a:t>
            </a:r>
            <a:endParaRPr lang="en-US" sz="1550" dirty="0"/>
          </a:p>
        </p:txBody>
      </p:sp>
      <p:sp>
        <p:nvSpPr>
          <p:cNvPr id="14" name="Text 12"/>
          <p:cNvSpPr/>
          <p:nvPr/>
        </p:nvSpPr>
        <p:spPr>
          <a:xfrm>
            <a:off x="3593592" y="3913632"/>
            <a:ext cx="2240280" cy="1691640"/>
          </a:xfrm>
          <a:prstGeom prst="rect">
            <a:avLst/>
          </a:prstGeom>
          <a:noFill/>
          <a:ln/>
        </p:spPr>
        <p:txBody>
          <a:bodyPr wrap="square" rtlCol="0" anchor="ctr"/>
          <a:lstStyle/>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8 luật IF-THEN</a:t>
            </a:r>
            <a:endParaRPr lang="en-US" sz="1180" dirty="0"/>
          </a:p>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AND = min, OR = max</a:t>
            </a:r>
            <a:endParaRPr lang="en-US" sz="1180" dirty="0"/>
          </a:p>
        </p:txBody>
      </p:sp>
      <p:sp>
        <p:nvSpPr>
          <p:cNvPr id="15" name="Text 13"/>
          <p:cNvSpPr/>
          <p:nvPr/>
        </p:nvSpPr>
        <p:spPr>
          <a:xfrm>
            <a:off x="6016752" y="3657600"/>
            <a:ext cx="256032" cy="548640"/>
          </a:xfrm>
          <a:prstGeom prst="rect">
            <a:avLst/>
          </a:prstGeom>
          <a:noFill/>
          <a:ln/>
        </p:spPr>
        <p:txBody>
          <a:bodyPr wrap="square" rtlCol="0" anchor="ctr"/>
          <a:lstStyle/>
          <a:p>
            <a:pPr algn="ctr" indent="0" marL="0">
              <a:buNone/>
            </a:pPr>
            <a:r>
              <a:rPr lang="en-US" sz="2200" b="1" dirty="0">
                <a:solidFill>
                  <a:srgbClr val="1C7293"/>
                </a:solidFill>
              </a:rPr>
              <a:t>→</a:t>
            </a:r>
            <a:endParaRPr lang="en-US" sz="2200" dirty="0"/>
          </a:p>
        </p:txBody>
      </p:sp>
      <p:sp>
        <p:nvSpPr>
          <p:cNvPr id="16" name="Shape 14"/>
          <p:cNvSpPr/>
          <p:nvPr/>
        </p:nvSpPr>
        <p:spPr>
          <a:xfrm>
            <a:off x="6272784" y="2148840"/>
            <a:ext cx="2606040" cy="3566160"/>
          </a:xfrm>
          <a:prstGeom prst="roundRect">
            <a:avLst>
              <a:gd name="adj" fmla="val 4211"/>
            </a:avLst>
          </a:prstGeom>
          <a:solidFill>
            <a:srgbClr val="132747"/>
          </a:solidFill>
          <a:ln w="12700">
            <a:solidFill>
              <a:srgbClr val="1C7293"/>
            </a:solidFill>
            <a:prstDash val="solid"/>
          </a:ln>
        </p:spPr>
        <p:txBody>
          <a:bodyPr/>
          <a:p/>
        </p:txBody>
      </p:sp>
      <p:sp>
        <p:nvSpPr>
          <p:cNvPr id="17" name="Shape 15"/>
          <p:cNvSpPr/>
          <p:nvPr/>
        </p:nvSpPr>
        <p:spPr>
          <a:xfrm>
            <a:off x="7191756" y="2423160"/>
            <a:ext cx="768096" cy="768096"/>
          </a:xfrm>
          <a:prstGeom prst="ellipse">
            <a:avLst/>
          </a:prstGeom>
          <a:solidFill>
            <a:srgbClr val="1C7293"/>
          </a:solidFill>
          <a:ln/>
        </p:spPr>
        <p:txBody>
          <a:bodyPr/>
          <a:p/>
        </p:txBody>
      </p:sp>
      <p:sp>
        <p:nvSpPr>
          <p:cNvPr id="18" name="Text 16"/>
          <p:cNvSpPr/>
          <p:nvPr/>
        </p:nvSpPr>
        <p:spPr>
          <a:xfrm>
            <a:off x="7191756" y="2423160"/>
            <a:ext cx="768096" cy="768096"/>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9" name="Text 17"/>
          <p:cNvSpPr/>
          <p:nvPr/>
        </p:nvSpPr>
        <p:spPr>
          <a:xfrm>
            <a:off x="6409944" y="3364992"/>
            <a:ext cx="2331720" cy="502920"/>
          </a:xfrm>
          <a:prstGeom prst="rect">
            <a:avLst/>
          </a:prstGeom>
          <a:noFill/>
          <a:ln/>
        </p:spPr>
        <p:txBody>
          <a:bodyPr wrap="square" rtlCol="0" anchor="ctr"/>
          <a:lstStyle/>
          <a:p>
            <a:pPr algn="ctr" indent="0" marL="0">
              <a:buNone/>
            </a:pPr>
            <a:r>
              <a:rPr lang="en-US" sz="1600" b="1" dirty="0">
                <a:solidFill>
                  <a:srgbClr val="CADCFC"/>
                </a:solidFill>
                <a:latin typeface="Cambria" pitchFamily="34" charset="0"/>
                <a:ea typeface="Cambria" pitchFamily="34" charset="-122"/>
                <a:cs typeface="Cambria" pitchFamily="34" charset="-120"/>
              </a:rPr>
              <a:t>Gộp mờ (Aggregation)</a:t>
            </a:r>
            <a:endParaRPr lang="en-US" sz="1550" dirty="0"/>
          </a:p>
        </p:txBody>
      </p:sp>
      <p:sp>
        <p:nvSpPr>
          <p:cNvPr id="20" name="Text 18"/>
          <p:cNvSpPr/>
          <p:nvPr/>
        </p:nvSpPr>
        <p:spPr>
          <a:xfrm>
            <a:off x="6455664" y="3913632"/>
            <a:ext cx="2240280" cy="1691640"/>
          </a:xfrm>
          <a:prstGeom prst="rect">
            <a:avLst/>
          </a:prstGeom>
          <a:noFill/>
          <a:ln/>
        </p:spPr>
        <p:txBody>
          <a:bodyPr wrap="square" rtlCol="0" anchor="ctr"/>
          <a:lstStyle/>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Gộp 3 tập mờ đầu ra</a:t>
            </a:r>
            <a:endParaRPr lang="en-US" sz="1180" dirty="0"/>
          </a:p>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bằng toán tử max</a:t>
            </a:r>
            <a:endParaRPr lang="en-US" sz="1180" dirty="0"/>
          </a:p>
        </p:txBody>
      </p:sp>
      <p:sp>
        <p:nvSpPr>
          <p:cNvPr id="21" name="Text 19"/>
          <p:cNvSpPr/>
          <p:nvPr/>
        </p:nvSpPr>
        <p:spPr>
          <a:xfrm>
            <a:off x="8878824" y="3657600"/>
            <a:ext cx="256032" cy="548640"/>
          </a:xfrm>
          <a:prstGeom prst="rect">
            <a:avLst/>
          </a:prstGeom>
          <a:noFill/>
          <a:ln/>
        </p:spPr>
        <p:txBody>
          <a:bodyPr wrap="square" rtlCol="0" anchor="ctr"/>
          <a:lstStyle/>
          <a:p>
            <a:pPr algn="ctr" indent="0" marL="0">
              <a:buNone/>
            </a:pPr>
            <a:r>
              <a:rPr lang="en-US" sz="2200" b="1" dirty="0">
                <a:solidFill>
                  <a:srgbClr val="1C7293"/>
                </a:solidFill>
              </a:rPr>
              <a:t>→</a:t>
            </a:r>
            <a:endParaRPr lang="en-US" sz="2200" dirty="0"/>
          </a:p>
        </p:txBody>
      </p:sp>
      <p:sp>
        <p:nvSpPr>
          <p:cNvPr id="22" name="Shape 20"/>
          <p:cNvSpPr/>
          <p:nvPr/>
        </p:nvSpPr>
        <p:spPr>
          <a:xfrm>
            <a:off x="9134856" y="2148840"/>
            <a:ext cx="2606040" cy="3566160"/>
          </a:xfrm>
          <a:prstGeom prst="roundRect">
            <a:avLst>
              <a:gd name="adj" fmla="val 4211"/>
            </a:avLst>
          </a:prstGeom>
          <a:solidFill>
            <a:srgbClr val="132747"/>
          </a:solidFill>
          <a:ln w="12700">
            <a:solidFill>
              <a:srgbClr val="1C7293"/>
            </a:solidFill>
            <a:prstDash val="solid"/>
          </a:ln>
        </p:spPr>
        <p:txBody>
          <a:bodyPr/>
          <a:p/>
        </p:txBody>
      </p:sp>
      <p:sp>
        <p:nvSpPr>
          <p:cNvPr id="23" name="Shape 21"/>
          <p:cNvSpPr/>
          <p:nvPr/>
        </p:nvSpPr>
        <p:spPr>
          <a:xfrm>
            <a:off x="10053828" y="2423160"/>
            <a:ext cx="768096" cy="768096"/>
          </a:xfrm>
          <a:prstGeom prst="ellipse">
            <a:avLst/>
          </a:prstGeom>
          <a:solidFill>
            <a:srgbClr val="1C7293"/>
          </a:solidFill>
          <a:ln/>
        </p:spPr>
        <p:txBody>
          <a:bodyPr/>
          <a:p/>
        </p:txBody>
      </p:sp>
      <p:sp>
        <p:nvSpPr>
          <p:cNvPr id="24" name="Text 22"/>
          <p:cNvSpPr/>
          <p:nvPr/>
        </p:nvSpPr>
        <p:spPr>
          <a:xfrm>
            <a:off x="10053828" y="2423160"/>
            <a:ext cx="768096" cy="768096"/>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5" name="Text 23"/>
          <p:cNvSpPr/>
          <p:nvPr/>
        </p:nvSpPr>
        <p:spPr>
          <a:xfrm>
            <a:off x="9272016" y="3364992"/>
            <a:ext cx="2331720" cy="502920"/>
          </a:xfrm>
          <a:prstGeom prst="rect">
            <a:avLst/>
          </a:prstGeom>
          <a:noFill/>
          <a:ln/>
        </p:spPr>
        <p:txBody>
          <a:bodyPr wrap="square" rtlCol="0" anchor="ctr"/>
          <a:lstStyle/>
          <a:p>
            <a:pPr algn="ctr" indent="0" marL="0">
              <a:buNone/>
            </a:pPr>
            <a:r>
              <a:rPr lang="en-US" sz="1600" b="1" dirty="0">
                <a:solidFill>
                  <a:srgbClr val="CADCFC"/>
                </a:solidFill>
                <a:latin typeface="Cambria" pitchFamily="34" charset="0"/>
                <a:ea typeface="Cambria" pitchFamily="34" charset="-122"/>
                <a:cs typeface="Cambria" pitchFamily="34" charset="-120"/>
              </a:rPr>
              <a:t>Giải mờ (Defuzzification)</a:t>
            </a:r>
            <a:endParaRPr lang="en-US" sz="1550" dirty="0"/>
          </a:p>
        </p:txBody>
      </p:sp>
      <p:sp>
        <p:nvSpPr>
          <p:cNvPr id="26" name="Text 24"/>
          <p:cNvSpPr/>
          <p:nvPr/>
        </p:nvSpPr>
        <p:spPr>
          <a:xfrm>
            <a:off x="9317736" y="3913632"/>
            <a:ext cx="2240280" cy="1691640"/>
          </a:xfrm>
          <a:prstGeom prst="rect">
            <a:avLst/>
          </a:prstGeom>
          <a:noFill/>
          <a:ln/>
        </p:spPr>
        <p:txBody>
          <a:bodyPr wrap="square" rtlCol="0" anchor="ctr"/>
          <a:lstStyle/>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Centroid → 1 điểm rủi ro</a:t>
            </a:r>
            <a:endParaRPr lang="en-US" sz="1180" dirty="0"/>
          </a:p>
          <a:p>
            <a:pPr algn="ctr" indent="0" marL="0">
              <a:lnSpc>
                <a:spcPts val="1600"/>
              </a:lnSpc>
              <a:buNone/>
            </a:pPr>
            <a:r>
              <a:rPr lang="en-US" sz="1600" dirty="0">
                <a:solidFill>
                  <a:srgbClr val="D6DEEB"/>
                </a:solidFill>
                <a:latin typeface="Calibri" pitchFamily="34" charset="0"/>
                <a:ea typeface="Calibri" pitchFamily="34" charset="-122"/>
                <a:cs typeface="Calibri" pitchFamily="34" charset="-120"/>
              </a:rPr>
              <a:t>duy nhất trong [0,1]</a:t>
            </a:r>
            <a:endParaRPr lang="en-US" sz="1180" dirty="0"/>
          </a:p>
        </p:txBody>
      </p:sp>
      <p:sp>
        <p:nvSpPr>
          <p:cNvPr id="27" name="Text 25"/>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8FA3C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3 · MAMDANI FUZZY LOGIC</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Hàm thành viên thực tế (fit trên tập Train)</a:t>
            </a:r>
            <a:endParaRPr lang="en-US" sz="3200" dirty="0"/>
          </a:p>
        </p:txBody>
      </p:sp>
      <p:pic>
        <p:nvPicPr>
          <p:cNvPr id="4" name="Image 0" descr="D:/06.BT/MachineLearningAdvance/CuoiKy/BaoCao_Assets/hinh2_membership_functions.png">    </p:cNvPr>
          <p:cNvPicPr>
            <a:picLocks noChangeAspect="1"/>
          </p:cNvPicPr>
          <p:nvPr/>
        </p:nvPicPr>
        <p:blipFill>
          <a:blip r:embed="rId1"/>
          <a:stretch>
            <a:fillRect/>
          </a:stretch>
        </p:blipFill>
        <p:spPr>
          <a:xfrm>
            <a:off x="1554226" y="1645920"/>
            <a:ext cx="9080500" cy="502920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3 · MAMDANI FUZZY LOGIC</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8 luật IF-THEN (tri thức chuyên gia)</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4663440"/>
        </p:xfrm>
        <a:graphic>
          <a:graphicData uri="http://schemas.openxmlformats.org/drawingml/2006/table">
            <a:tbl>
              <a:tblPr/>
              <a:tblGrid>
                <a:gridCol w="914400"/>
                <a:gridCol w="8138160"/>
                <a:gridCol w="2011680"/>
              </a:tblGrid>
              <a:tr h="5181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Luật</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32747"/>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Điều kiện (IF)</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32747"/>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Kết luận</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132747"/>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new_country AND new_asn AND gap_high</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03B3B"/>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success_rate_low</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03B3B"/>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R3</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num_changes_high</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03B3B"/>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R4</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asn_rarity_high</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D03B3B"/>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NOT new_country AND NOT new_asn AND changes_low AND success_high</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CA30C"/>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gap_low AND country_rarity_low</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CA30C"/>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R7</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changes_med OR gap_med</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985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r h="518160">
                <a:tc>
                  <a:txBody>
                    <a:bodyPr/>
                    <a:lstStyle/>
                    <a:p>
                      <a:pPr algn="ctr" indent="0" marL="0">
                        <a:buNone/>
                      </a:pPr>
                      <a:r>
                        <a:rPr lang="en-US" sz="1300" b="1" dirty="0">
                          <a:solidFill>
                            <a:srgbClr val="000000"/>
                          </a:solidFill>
                          <a:latin typeface="Calibri" pitchFamily="34" charset="0"/>
                          <a:ea typeface="Calibri" pitchFamily="34" charset="-122"/>
                          <a:cs typeface="Calibri" pitchFamily="34" charset="-120"/>
                        </a:rPr>
                        <a:t>R8</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Calibri" pitchFamily="34" charset="0"/>
                          <a:ea typeface="Calibri" pitchFamily="34" charset="-122"/>
                          <a:cs typeface="Calibri" pitchFamily="34" charset="-120"/>
                        </a:rPr>
                        <a:t>success_med AND (NOT new_country OR NOT new_asn)</a:t>
                      </a:r>
                      <a:endParaRPr lang="en-US" sz="125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C98500"/>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9525" cap="flat" cmpd="sng" algn="ctr">
                      <a:solidFill>
                        <a:srgbClr val="E1E0D9"/>
                      </a:solidFill>
                      <a:prstDash val="solid"/>
                      <a:round/>
                      <a:headEnd type="none" w="med" len="med"/>
                      <a:tailEnd type="none" w="med" len="med"/>
                    </a:lnL>
                    <a:lnR w="9525" cap="flat" cmpd="sng" algn="ctr">
                      <a:solidFill>
                        <a:srgbClr val="E1E0D9"/>
                      </a:solidFill>
                      <a:prstDash val="solid"/>
                      <a:round/>
                      <a:headEnd type="none" w="med" len="med"/>
                      <a:tailEnd type="none" w="med" len="med"/>
                    </a:lnR>
                    <a:lnT w="9525" cap="flat" cmpd="sng" algn="ctr">
                      <a:solidFill>
                        <a:srgbClr val="E1E0D9"/>
                      </a:solidFill>
                      <a:prstDash val="solid"/>
                      <a:round/>
                      <a:headEnd type="none" w="med" len="med"/>
                      <a:tailEnd type="none" w="med" len="med"/>
                    </a:lnT>
                    <a:lnB w="9525"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3 · MAMDANI FUZZY LOGIC</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Ví dụ minh hoạ trên 1 mẫu cụ thể</a:t>
            </a:r>
            <a:endParaRPr lang="en-US" sz="3200" dirty="0"/>
          </a:p>
        </p:txBody>
      </p:sp>
      <p:pic>
        <p:nvPicPr>
          <p:cNvPr id="4" name="Image 0" descr="D:/06.BT/MachineLearningAdvance/CuoiKy/BaoCao_Assets/hinh3_vidu_mamdani_4buoc.png">    </p:cNvPr>
          <p:cNvPicPr>
            <a:picLocks noChangeAspect="1"/>
          </p:cNvPicPr>
          <p:nvPr/>
        </p:nvPicPr>
        <p:blipFill>
          <a:blip r:embed="rId1"/>
          <a:stretch>
            <a:fillRect/>
          </a:stretch>
        </p:blipFill>
        <p:spPr>
          <a:xfrm>
            <a:off x="457200" y="1691640"/>
            <a:ext cx="6337963" cy="4892040"/>
          </a:xfrm>
          <a:prstGeom prst="rect">
            <a:avLst/>
          </a:prstGeom>
        </p:spPr>
      </p:pic>
      <p:sp>
        <p:nvSpPr>
          <p:cNvPr id="5" name="Shape 2"/>
          <p:cNvSpPr/>
          <p:nvPr/>
        </p:nvSpPr>
        <p:spPr>
          <a:xfrm>
            <a:off x="7115203" y="2560320"/>
            <a:ext cx="4525109" cy="1828800"/>
          </a:xfrm>
          <a:prstGeom prst="roundRect">
            <a:avLst>
              <a:gd name="adj" fmla="val 6000"/>
            </a:avLst>
          </a:prstGeom>
          <a:solidFill>
            <a:srgbClr val="D03B3B"/>
          </a:solidFill>
          <a:ln/>
        </p:spPr>
        <p:txBody>
          <a:bodyPr/>
          <a:p/>
        </p:txBody>
      </p:sp>
      <p:sp>
        <p:nvSpPr>
          <p:cNvPr id="6" name="Text 3"/>
          <p:cNvSpPr/>
          <p:nvPr/>
        </p:nvSpPr>
        <p:spPr>
          <a:xfrm>
            <a:off x="7115203" y="2743200"/>
            <a:ext cx="4525109" cy="8229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0.839</a:t>
            </a:r>
            <a:endParaRPr lang="en-US" sz="3400" dirty="0"/>
          </a:p>
        </p:txBody>
      </p:sp>
      <p:sp>
        <p:nvSpPr>
          <p:cNvPr id="7" name="Text 4"/>
          <p:cNvSpPr/>
          <p:nvPr/>
        </p:nvSpPr>
        <p:spPr>
          <a:xfrm>
            <a:off x="7115203" y="3520440"/>
            <a:ext cx="4525109" cy="777240"/>
          </a:xfrm>
          <a:prstGeom prst="rect">
            <a:avLst/>
          </a:prstGeom>
          <a:noFill/>
          <a:ln/>
        </p:spPr>
        <p:txBody>
          <a:bodyPr wrap="square" rtlCol="0" anchor="ctr"/>
          <a:lstStyle/>
          <a:p>
            <a:pPr algn="ctr" indent="0" marL="0">
              <a:lnSpc>
                <a:spcPts val="1500"/>
              </a:lnSpc>
              <a:buNone/>
            </a:pPr>
            <a:r>
              <a:rPr lang="en-US" sz="1600" dirty="0">
                <a:solidFill>
                  <a:srgbClr val="FFFFFF"/>
                </a:solidFill>
                <a:latin typeface="Calibri" pitchFamily="34" charset="0"/>
                <a:ea typeface="Calibri" pitchFamily="34" charset="-122"/>
                <a:cs typeface="Calibri" pitchFamily="34" charset="-120"/>
              </a:rPr>
              <a:t>Điểm rủi ro Centroid</a:t>
            </a:r>
            <a:endParaRPr lang="en-US" sz="1150" dirty="0"/>
          </a:p>
          <a:p>
            <a:pPr algn="ctr" indent="0" marL="0">
              <a:lnSpc>
                <a:spcPts val="1500"/>
              </a:lnSpc>
              <a:buNone/>
            </a:pPr>
            <a:r>
              <a:rPr lang="en-US" sz="1600" dirty="0">
                <a:solidFill>
                  <a:srgbClr val="FFFFFF"/>
                </a:solidFill>
                <a:latin typeface="Calibri" pitchFamily="34" charset="0"/>
                <a:ea typeface="Calibri" pitchFamily="34" charset="-122"/>
                <a:cs typeface="Calibri" pitchFamily="34" charset="-120"/>
              </a:rPr>
              <a:t>score — RỦI RO CAO</a:t>
            </a:r>
            <a:endParaRPr lang="en-US" sz="1150" dirty="0"/>
          </a:p>
        </p:txBody>
      </p:sp>
      <p:sp>
        <p:nvSpPr>
          <p:cNvPr id="8" name="Text 5"/>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4 · MẠNG MLP</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Kiến trúc mạng MLP (bộ phân loại)</a:t>
            </a:r>
            <a:endParaRPr lang="en-US" sz="3200" dirty="0"/>
          </a:p>
        </p:txBody>
      </p:sp>
      <p:pic>
        <p:nvPicPr>
          <p:cNvPr id="4" name="Image 0" descr="D:/06.BT/MachineLearningAdvance/CuoiKy/BaoCao_Assets/hinh4_kien_truc_mlp.png">    </p:cNvPr>
          <p:cNvPicPr>
            <a:picLocks noChangeAspect="1"/>
          </p:cNvPicPr>
          <p:nvPr/>
        </p:nvPicPr>
        <p:blipFill>
          <a:blip r:embed="rId1"/>
          <a:stretch>
            <a:fillRect/>
          </a:stretch>
        </p:blipFill>
        <p:spPr>
          <a:xfrm>
            <a:off x="1730707" y="1737360"/>
            <a:ext cx="8727539" cy="4937760"/>
          </a:xfrm>
          <a:prstGeom prst="rect">
            <a:avLst/>
          </a:prstGeom>
        </p:spPr>
      </p:pic>
      <p:sp>
        <p:nvSpPr>
          <p:cNvPr id="5" name="Text 2"/>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4 · MẠNG MLP</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Chiến lược huấn luyện</a:t>
            </a:r>
            <a:endParaRPr lang="en-US" sz="3200" dirty="0"/>
          </a:p>
        </p:txBody>
      </p:sp>
      <p:sp>
        <p:nvSpPr>
          <p:cNvPr id="4" name="Shape 2"/>
          <p:cNvSpPr/>
          <p:nvPr/>
        </p:nvSpPr>
        <p:spPr>
          <a:xfrm>
            <a:off x="548640" y="1783080"/>
            <a:ext cx="11064240" cy="841248"/>
          </a:xfrm>
          <a:prstGeom prst="roundRect">
            <a:avLst>
              <a:gd name="adj" fmla="val 8696"/>
            </a:avLst>
          </a:prstGeom>
          <a:solidFill>
            <a:srgbClr val="FFFFFF"/>
          </a:solidFill>
          <a:ln w="12700">
            <a:solidFill>
              <a:srgbClr val="E1E0D9"/>
            </a:solidFill>
            <a:prstDash val="solid"/>
          </a:ln>
        </p:spPr>
        <p:txBody>
          <a:bodyPr/>
          <a:p/>
        </p:txBody>
      </p:sp>
      <p:sp>
        <p:nvSpPr>
          <p:cNvPr id="5" name="Shape 3"/>
          <p:cNvSpPr/>
          <p:nvPr/>
        </p:nvSpPr>
        <p:spPr>
          <a:xfrm>
            <a:off x="777240" y="1929384"/>
            <a:ext cx="548640" cy="548640"/>
          </a:xfrm>
          <a:prstGeom prst="ellipse">
            <a:avLst/>
          </a:prstGeom>
          <a:solidFill>
            <a:srgbClr val="1C7293"/>
          </a:solidFill>
          <a:ln/>
        </p:spPr>
        <p:txBody>
          <a:bodyPr/>
          <a:p/>
        </p:txBody>
      </p:sp>
      <p:sp>
        <p:nvSpPr>
          <p:cNvPr id="6" name="Text 4"/>
          <p:cNvSpPr/>
          <p:nvPr/>
        </p:nvSpPr>
        <p:spPr>
          <a:xfrm>
            <a:off x="777240" y="1929384"/>
            <a:ext cx="54864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1600200" y="1856232"/>
            <a:ext cx="2743200" cy="69494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Xử lý mất cân bằng</a:t>
            </a:r>
            <a:endParaRPr lang="en-US" sz="1400" dirty="0"/>
          </a:p>
        </p:txBody>
      </p:sp>
      <p:sp>
        <p:nvSpPr>
          <p:cNvPr id="8" name="Text 6"/>
          <p:cNvSpPr/>
          <p:nvPr/>
        </p:nvSpPr>
        <p:spPr>
          <a:xfrm>
            <a:off x="4480560" y="1856232"/>
            <a:ext cx="6949440" cy="694944"/>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BCEWithLogitsLoss với pos_weight = n_âm / n_dương (chỉ ~3% mẫu dương)</a:t>
            </a:r>
            <a:endParaRPr lang="en-US" sz="1250" dirty="0"/>
          </a:p>
        </p:txBody>
      </p:sp>
      <p:sp>
        <p:nvSpPr>
          <p:cNvPr id="9" name="Shape 7"/>
          <p:cNvSpPr/>
          <p:nvPr/>
        </p:nvSpPr>
        <p:spPr>
          <a:xfrm>
            <a:off x="548640" y="2752344"/>
            <a:ext cx="11064240" cy="841248"/>
          </a:xfrm>
          <a:prstGeom prst="roundRect">
            <a:avLst>
              <a:gd name="adj" fmla="val 8696"/>
            </a:avLst>
          </a:prstGeom>
          <a:solidFill>
            <a:srgbClr val="FFFFFF"/>
          </a:solidFill>
          <a:ln w="12700">
            <a:solidFill>
              <a:srgbClr val="E1E0D9"/>
            </a:solidFill>
            <a:prstDash val="solid"/>
          </a:ln>
        </p:spPr>
        <p:txBody>
          <a:bodyPr/>
          <a:p/>
        </p:txBody>
      </p:sp>
      <p:sp>
        <p:nvSpPr>
          <p:cNvPr id="10" name="Shape 8"/>
          <p:cNvSpPr/>
          <p:nvPr/>
        </p:nvSpPr>
        <p:spPr>
          <a:xfrm>
            <a:off x="777240" y="2898648"/>
            <a:ext cx="548640" cy="548640"/>
          </a:xfrm>
          <a:prstGeom prst="ellipse">
            <a:avLst/>
          </a:prstGeom>
          <a:solidFill>
            <a:srgbClr val="1C7293"/>
          </a:solidFill>
          <a:ln/>
        </p:spPr>
        <p:txBody>
          <a:bodyPr/>
          <a:p/>
        </p:txBody>
      </p:sp>
      <p:sp>
        <p:nvSpPr>
          <p:cNvPr id="11" name="Text 9"/>
          <p:cNvSpPr/>
          <p:nvPr/>
        </p:nvSpPr>
        <p:spPr>
          <a:xfrm>
            <a:off x="777240" y="2898648"/>
            <a:ext cx="54864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1600200" y="2825496"/>
            <a:ext cx="2743200" cy="69494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Bộ tối ưu (Optimizer)</a:t>
            </a:r>
            <a:endParaRPr lang="en-US" sz="1400" dirty="0"/>
          </a:p>
        </p:txBody>
      </p:sp>
      <p:sp>
        <p:nvSpPr>
          <p:cNvPr id="13" name="Text 11"/>
          <p:cNvSpPr/>
          <p:nvPr/>
        </p:nvSpPr>
        <p:spPr>
          <a:xfrm>
            <a:off x="4480560" y="2825496"/>
            <a:ext cx="6949440" cy="694944"/>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Adam (learning rate = 1e-3, weight decay = 1e-5)</a:t>
            </a:r>
            <a:endParaRPr lang="en-US" sz="1250" dirty="0"/>
          </a:p>
        </p:txBody>
      </p:sp>
      <p:sp>
        <p:nvSpPr>
          <p:cNvPr id="14" name="Shape 12"/>
          <p:cNvSpPr/>
          <p:nvPr/>
        </p:nvSpPr>
        <p:spPr>
          <a:xfrm>
            <a:off x="548640" y="3721608"/>
            <a:ext cx="11064240" cy="841248"/>
          </a:xfrm>
          <a:prstGeom prst="roundRect">
            <a:avLst>
              <a:gd name="adj" fmla="val 8696"/>
            </a:avLst>
          </a:prstGeom>
          <a:solidFill>
            <a:srgbClr val="FFFFFF"/>
          </a:solidFill>
          <a:ln w="12700">
            <a:solidFill>
              <a:srgbClr val="E1E0D9"/>
            </a:solidFill>
            <a:prstDash val="solid"/>
          </a:ln>
        </p:spPr>
        <p:txBody>
          <a:bodyPr/>
          <a:p/>
        </p:txBody>
      </p:sp>
      <p:sp>
        <p:nvSpPr>
          <p:cNvPr id="15" name="Shape 13"/>
          <p:cNvSpPr/>
          <p:nvPr/>
        </p:nvSpPr>
        <p:spPr>
          <a:xfrm>
            <a:off x="777240" y="3867912"/>
            <a:ext cx="548640" cy="548640"/>
          </a:xfrm>
          <a:prstGeom prst="ellipse">
            <a:avLst/>
          </a:prstGeom>
          <a:solidFill>
            <a:srgbClr val="1C7293"/>
          </a:solidFill>
          <a:ln/>
        </p:spPr>
        <p:txBody>
          <a:bodyPr/>
          <a:p/>
        </p:txBody>
      </p:sp>
      <p:sp>
        <p:nvSpPr>
          <p:cNvPr id="16" name="Text 14"/>
          <p:cNvSpPr/>
          <p:nvPr/>
        </p:nvSpPr>
        <p:spPr>
          <a:xfrm>
            <a:off x="777240" y="3867912"/>
            <a:ext cx="54864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1600200" y="3794760"/>
            <a:ext cx="2743200" cy="69494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Bộ điều chỉnh LR (Scheduler)</a:t>
            </a:r>
            <a:endParaRPr lang="en-US" sz="1400" dirty="0"/>
          </a:p>
        </p:txBody>
      </p:sp>
      <p:sp>
        <p:nvSpPr>
          <p:cNvPr id="18" name="Text 16"/>
          <p:cNvSpPr/>
          <p:nvPr/>
        </p:nvSpPr>
        <p:spPr>
          <a:xfrm>
            <a:off x="4480560" y="3794760"/>
            <a:ext cx="6949440" cy="694944"/>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ReduceLROnPlateau — giảm nửa LR nếu Val AUPRC không cải thiện sau 2 epoch</a:t>
            </a:r>
            <a:endParaRPr lang="en-US" sz="1250" dirty="0"/>
          </a:p>
        </p:txBody>
      </p:sp>
      <p:sp>
        <p:nvSpPr>
          <p:cNvPr id="19" name="Shape 17"/>
          <p:cNvSpPr/>
          <p:nvPr/>
        </p:nvSpPr>
        <p:spPr>
          <a:xfrm>
            <a:off x="548640" y="4690872"/>
            <a:ext cx="11064240" cy="841248"/>
          </a:xfrm>
          <a:prstGeom prst="roundRect">
            <a:avLst>
              <a:gd name="adj" fmla="val 8696"/>
            </a:avLst>
          </a:prstGeom>
          <a:solidFill>
            <a:srgbClr val="FFFFFF"/>
          </a:solidFill>
          <a:ln w="12700">
            <a:solidFill>
              <a:srgbClr val="E1E0D9"/>
            </a:solidFill>
            <a:prstDash val="solid"/>
          </a:ln>
        </p:spPr>
        <p:txBody>
          <a:bodyPr/>
          <a:p/>
        </p:txBody>
      </p:sp>
      <p:sp>
        <p:nvSpPr>
          <p:cNvPr id="20" name="Shape 18"/>
          <p:cNvSpPr/>
          <p:nvPr/>
        </p:nvSpPr>
        <p:spPr>
          <a:xfrm>
            <a:off x="777240" y="4837176"/>
            <a:ext cx="548640" cy="548640"/>
          </a:xfrm>
          <a:prstGeom prst="ellipse">
            <a:avLst/>
          </a:prstGeom>
          <a:solidFill>
            <a:srgbClr val="1C7293"/>
          </a:solidFill>
          <a:ln/>
        </p:spPr>
        <p:txBody>
          <a:bodyPr/>
          <a:p/>
        </p:txBody>
      </p:sp>
      <p:sp>
        <p:nvSpPr>
          <p:cNvPr id="21" name="Text 19"/>
          <p:cNvSpPr/>
          <p:nvPr/>
        </p:nvSpPr>
        <p:spPr>
          <a:xfrm>
            <a:off x="777240" y="4837176"/>
            <a:ext cx="54864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1600200" y="4764024"/>
            <a:ext cx="2743200" cy="69494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Dừng sớm (Early stopping)</a:t>
            </a:r>
            <a:endParaRPr lang="en-US" sz="1400" dirty="0"/>
          </a:p>
        </p:txBody>
      </p:sp>
      <p:sp>
        <p:nvSpPr>
          <p:cNvPr id="23" name="Text 21"/>
          <p:cNvSpPr/>
          <p:nvPr/>
        </p:nvSpPr>
        <p:spPr>
          <a:xfrm>
            <a:off x="4480560" y="4764024"/>
            <a:ext cx="6949440" cy="694944"/>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Dừng nếu Val AUPRC không cải thiện sau 5 epoch (tối đa 30 epoch)</a:t>
            </a:r>
            <a:endParaRPr lang="en-US" sz="1250" dirty="0"/>
          </a:p>
        </p:txBody>
      </p:sp>
      <p:sp>
        <p:nvSpPr>
          <p:cNvPr id="24" name="Shape 22"/>
          <p:cNvSpPr/>
          <p:nvPr/>
        </p:nvSpPr>
        <p:spPr>
          <a:xfrm>
            <a:off x="548640" y="5660136"/>
            <a:ext cx="11064240" cy="841248"/>
          </a:xfrm>
          <a:prstGeom prst="roundRect">
            <a:avLst>
              <a:gd name="adj" fmla="val 8696"/>
            </a:avLst>
          </a:prstGeom>
          <a:solidFill>
            <a:srgbClr val="FFFFFF"/>
          </a:solidFill>
          <a:ln w="12700">
            <a:solidFill>
              <a:srgbClr val="E1E0D9"/>
            </a:solidFill>
            <a:prstDash val="solid"/>
          </a:ln>
        </p:spPr>
        <p:txBody>
          <a:bodyPr/>
          <a:p/>
        </p:txBody>
      </p:sp>
      <p:sp>
        <p:nvSpPr>
          <p:cNvPr id="25" name="Shape 23"/>
          <p:cNvSpPr/>
          <p:nvPr/>
        </p:nvSpPr>
        <p:spPr>
          <a:xfrm>
            <a:off x="777240" y="5806440"/>
            <a:ext cx="548640" cy="548640"/>
          </a:xfrm>
          <a:prstGeom prst="ellipse">
            <a:avLst/>
          </a:prstGeom>
          <a:solidFill>
            <a:srgbClr val="1C7293"/>
          </a:solidFill>
          <a:ln/>
        </p:spPr>
        <p:txBody>
          <a:bodyPr/>
          <a:p/>
        </p:txBody>
      </p:sp>
      <p:sp>
        <p:nvSpPr>
          <p:cNvPr id="26" name="Text 24"/>
          <p:cNvSpPr/>
          <p:nvPr/>
        </p:nvSpPr>
        <p:spPr>
          <a:xfrm>
            <a:off x="777240" y="5806440"/>
            <a:ext cx="548640" cy="548640"/>
          </a:xfrm>
          <a:prstGeom prst="rect">
            <a:avLst/>
          </a:prstGeom>
          <a:noFill/>
          <a:ln/>
        </p:spPr>
        <p:txBody>
          <a:bodyPr wrap="square"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1600200" y="5733288"/>
            <a:ext cx="2743200" cy="694944"/>
          </a:xfrm>
          <a:prstGeom prst="rect">
            <a:avLst/>
          </a:prstGeom>
          <a:noFill/>
          <a:ln/>
        </p:spPr>
        <p:txBody>
          <a:bodyPr wrap="square" rtlCol="0" anchor="ctr"/>
          <a:lstStyle/>
          <a:p>
            <a:pPr indent="0" marL="0">
              <a:buNone/>
            </a:pPr>
            <a:r>
              <a:rPr lang="en-US" sz="1600" b="1" dirty="0">
                <a:solidFill>
                  <a:srgbClr val="132747"/>
                </a:solidFill>
                <a:latin typeface="Cambria" pitchFamily="34" charset="0"/>
                <a:ea typeface="Cambria" pitchFamily="34" charset="-122"/>
                <a:cs typeface="Cambria" pitchFamily="34" charset="-120"/>
              </a:rPr>
              <a:t>Chia dữ liệu</a:t>
            </a:r>
            <a:endParaRPr lang="en-US" sz="1400" dirty="0"/>
          </a:p>
        </p:txBody>
      </p:sp>
      <p:sp>
        <p:nvSpPr>
          <p:cNvPr id="28" name="Text 26"/>
          <p:cNvSpPr/>
          <p:nvPr/>
        </p:nvSpPr>
        <p:spPr>
          <a:xfrm>
            <a:off x="4480560" y="5733288"/>
            <a:ext cx="6949440" cy="694944"/>
          </a:xfrm>
          <a:prstGeom prst="rect">
            <a:avLst/>
          </a:prstGeom>
          <a:noFill/>
          <a:ln/>
        </p:spPr>
        <p:txBody>
          <a:bodyPr wrap="square" rtlCol="0" anchor="ctr"/>
          <a:lstStyle/>
          <a:p>
            <a:pPr indent="0" marL="0">
              <a:buNone/>
            </a:pPr>
            <a:r>
              <a:rPr lang="en-US" sz="1600" dirty="0">
                <a:solidFill>
                  <a:srgbClr val="232323"/>
                </a:solidFill>
                <a:latin typeface="Calibri" pitchFamily="34" charset="0"/>
                <a:ea typeface="Calibri" pitchFamily="34" charset="-122"/>
                <a:cs typeface="Calibri" pitchFamily="34" charset="-120"/>
              </a:rPr>
              <a:t>70% Train / 15% Validation / 15% Test, stratified theo nhãn</a:t>
            </a:r>
            <a:endParaRPr lang="en-US" sz="1250" dirty="0"/>
          </a:p>
        </p:txBody>
      </p:sp>
      <p:sp>
        <p:nvSpPr>
          <p:cNvPr id="29" name="Text 27"/>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PHẦN 5 · KẾT QUẢ THỰC NGHIỆM</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Đánh giá trên tập Test (36.997 dòng)</a:t>
            </a:r>
            <a:endParaRPr lang="en-US" sz="3200" dirty="0"/>
          </a:p>
        </p:txBody>
      </p:sp>
      <p:sp>
        <p:nvSpPr>
          <p:cNvPr id="4" name="Shape 2"/>
          <p:cNvSpPr/>
          <p:nvPr/>
        </p:nvSpPr>
        <p:spPr>
          <a:xfrm>
            <a:off x="548640"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5" name="Text 3"/>
          <p:cNvSpPr/>
          <p:nvPr/>
        </p:nvSpPr>
        <p:spPr>
          <a:xfrm>
            <a:off x="548640"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86.6%</a:t>
            </a:r>
            <a:endParaRPr lang="en-US" sz="2700" dirty="0"/>
          </a:p>
        </p:txBody>
      </p:sp>
      <p:sp>
        <p:nvSpPr>
          <p:cNvPr id="6" name="Text 4"/>
          <p:cNvSpPr/>
          <p:nvPr/>
        </p:nvSpPr>
        <p:spPr>
          <a:xfrm>
            <a:off x="548640"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AUROC</a:t>
            </a:r>
            <a:endParaRPr lang="en-US" sz="1300" dirty="0"/>
          </a:p>
        </p:txBody>
      </p:sp>
      <p:sp>
        <p:nvSpPr>
          <p:cNvPr id="7" name="Shape 5"/>
          <p:cNvSpPr/>
          <p:nvPr/>
        </p:nvSpPr>
        <p:spPr>
          <a:xfrm>
            <a:off x="2450592"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8" name="Text 6"/>
          <p:cNvSpPr/>
          <p:nvPr/>
        </p:nvSpPr>
        <p:spPr>
          <a:xfrm>
            <a:off x="2450592"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22.3%</a:t>
            </a:r>
            <a:endParaRPr lang="en-US" sz="2700" dirty="0"/>
          </a:p>
        </p:txBody>
      </p:sp>
      <p:sp>
        <p:nvSpPr>
          <p:cNvPr id="9" name="Text 7"/>
          <p:cNvSpPr/>
          <p:nvPr/>
        </p:nvSpPr>
        <p:spPr>
          <a:xfrm>
            <a:off x="2450592"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AUPRC</a:t>
            </a:r>
            <a:endParaRPr lang="en-US" sz="1300" dirty="0"/>
          </a:p>
        </p:txBody>
      </p:sp>
      <p:sp>
        <p:nvSpPr>
          <p:cNvPr id="10" name="Shape 8"/>
          <p:cNvSpPr/>
          <p:nvPr/>
        </p:nvSpPr>
        <p:spPr>
          <a:xfrm>
            <a:off x="4352544"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1" name="Text 9"/>
          <p:cNvSpPr/>
          <p:nvPr/>
        </p:nvSpPr>
        <p:spPr>
          <a:xfrm>
            <a:off x="4352544"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75.4%</a:t>
            </a:r>
            <a:endParaRPr lang="en-US" sz="2700" dirty="0"/>
          </a:p>
        </p:txBody>
      </p:sp>
      <p:sp>
        <p:nvSpPr>
          <p:cNvPr id="12" name="Text 10"/>
          <p:cNvSpPr/>
          <p:nvPr/>
        </p:nvSpPr>
        <p:spPr>
          <a:xfrm>
            <a:off x="4352544"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13" name="Shape 11"/>
          <p:cNvSpPr/>
          <p:nvPr/>
        </p:nvSpPr>
        <p:spPr>
          <a:xfrm>
            <a:off x="6254496"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4" name="Text 12"/>
          <p:cNvSpPr/>
          <p:nvPr/>
        </p:nvSpPr>
        <p:spPr>
          <a:xfrm>
            <a:off x="6254496"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9.9%</a:t>
            </a:r>
            <a:endParaRPr lang="en-US" sz="2700" dirty="0"/>
          </a:p>
        </p:txBody>
      </p:sp>
      <p:sp>
        <p:nvSpPr>
          <p:cNvPr id="15" name="Text 13"/>
          <p:cNvSpPr/>
          <p:nvPr/>
        </p:nvSpPr>
        <p:spPr>
          <a:xfrm>
            <a:off x="6254496"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6" name="Shape 14"/>
          <p:cNvSpPr/>
          <p:nvPr/>
        </p:nvSpPr>
        <p:spPr>
          <a:xfrm>
            <a:off x="8156448"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7" name="Text 15"/>
          <p:cNvSpPr/>
          <p:nvPr/>
        </p:nvSpPr>
        <p:spPr>
          <a:xfrm>
            <a:off x="8156448"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84.9%</a:t>
            </a:r>
            <a:endParaRPr lang="en-US" sz="2700" dirty="0"/>
          </a:p>
        </p:txBody>
      </p:sp>
      <p:sp>
        <p:nvSpPr>
          <p:cNvPr id="18" name="Text 16"/>
          <p:cNvSpPr/>
          <p:nvPr/>
        </p:nvSpPr>
        <p:spPr>
          <a:xfrm>
            <a:off x="8156448"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9" name="Shape 17"/>
          <p:cNvSpPr/>
          <p:nvPr/>
        </p:nvSpPr>
        <p:spPr>
          <a:xfrm>
            <a:off x="10058400"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20" name="Text 18"/>
          <p:cNvSpPr/>
          <p:nvPr/>
        </p:nvSpPr>
        <p:spPr>
          <a:xfrm>
            <a:off x="10058400"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17.7%</a:t>
            </a:r>
            <a:endParaRPr lang="en-US" sz="2700" dirty="0"/>
          </a:p>
        </p:txBody>
      </p:sp>
      <p:sp>
        <p:nvSpPr>
          <p:cNvPr id="21" name="Text 19"/>
          <p:cNvSpPr/>
          <p:nvPr/>
        </p:nvSpPr>
        <p:spPr>
          <a:xfrm>
            <a:off x="10058400"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F1</a:t>
            </a:r>
            <a:endParaRPr lang="en-US" sz="1300" dirty="0"/>
          </a:p>
        </p:txBody>
      </p:sp>
      <p:sp>
        <p:nvSpPr>
          <p:cNvPr id="22" name="Text 20"/>
          <p:cNvSpPr/>
          <p:nvPr/>
        </p:nvSpPr>
        <p:spPr>
          <a:xfrm>
            <a:off x="548640" y="4251960"/>
            <a:ext cx="11064240" cy="914400"/>
          </a:xfrm>
          <a:prstGeom prst="rect">
            <a:avLst/>
          </a:prstGeom>
          <a:noFill/>
          <a:ln/>
        </p:spPr>
        <p:txBody>
          <a:bodyPr wrap="square" rtlCol="0" anchor="ctr"/>
          <a:lstStyle/>
          <a:p>
            <a:pPr indent="0" marL="0">
              <a:lnSpc>
                <a:spcPts val="2000"/>
              </a:lnSpc>
              <a:buNone/>
            </a:pPr>
            <a:r>
              <a:rPr lang="en-US" sz="1600" i="1" dirty="0">
                <a:solidFill>
                  <a:srgbClr val="D6DEEB"/>
                </a:solidFill>
                <a:latin typeface="Calibri" pitchFamily="34" charset="0"/>
                <a:ea typeface="Calibri" pitchFamily="34" charset="-122"/>
                <a:cs typeface="Calibri" pitchFamily="34" charset="-120"/>
              </a:rPr>
              <a:t>Recall cao (84.9%) — bắt được phần lớn tấn công thật.  Precision thấp (9.9%) — hệ quả của dữ liệu mất cân bằng (~3% dương) ở ngưỡng mặc định 0.5. Đổi ngưỡng theo F1 (0.823): Precision → 28.8%, F1 → 0.310.</a:t>
            </a:r>
            <a:endParaRPr lang="en-US" sz="1400" dirty="0"/>
          </a:p>
        </p:txBody>
      </p:sp>
      <p:sp>
        <p:nvSpPr>
          <p:cNvPr id="23" name="Text 21"/>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8FA3C7"/>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PHẦN 5 · ABLATION STUDY</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Ablation: đóng góp của đặc trưng mờ (Δ = MLP + Mamdani − MLP không fuzzy)</a:t>
            </a:r>
            <a:endParaRPr lang="en-US" sz="3200" dirty="0"/>
          </a:p>
        </p:txBody>
      </p:sp>
      <p:sp>
        <p:nvSpPr>
          <p:cNvPr id="4" name="Shape 2"/>
          <p:cNvSpPr/>
          <p:nvPr/>
        </p:nvSpPr>
        <p:spPr>
          <a:xfrm>
            <a:off x="548640"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5" name="Text 3"/>
          <p:cNvSpPr/>
          <p:nvPr/>
        </p:nvSpPr>
        <p:spPr>
          <a:xfrm>
            <a:off x="548640"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+2.1%</a:t>
            </a:r>
            <a:endParaRPr lang="en-US" sz="2700" dirty="0"/>
          </a:p>
        </p:txBody>
      </p:sp>
      <p:sp>
        <p:nvSpPr>
          <p:cNvPr id="6" name="Text 4"/>
          <p:cNvSpPr/>
          <p:nvPr/>
        </p:nvSpPr>
        <p:spPr>
          <a:xfrm>
            <a:off x="548640"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AUROC</a:t>
            </a:r>
            <a:endParaRPr lang="en-US" sz="1300" dirty="0"/>
          </a:p>
        </p:txBody>
      </p:sp>
      <p:sp>
        <p:nvSpPr>
          <p:cNvPr id="7" name="Shape 5"/>
          <p:cNvSpPr/>
          <p:nvPr/>
        </p:nvSpPr>
        <p:spPr>
          <a:xfrm>
            <a:off x="2450592"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8" name="Text 6"/>
          <p:cNvSpPr/>
          <p:nvPr/>
        </p:nvSpPr>
        <p:spPr>
          <a:xfrm>
            <a:off x="2450592"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+7.5%</a:t>
            </a:r>
            <a:endParaRPr lang="en-US" sz="2700" dirty="0"/>
          </a:p>
        </p:txBody>
      </p:sp>
      <p:sp>
        <p:nvSpPr>
          <p:cNvPr id="9" name="Text 7"/>
          <p:cNvSpPr/>
          <p:nvPr/>
        </p:nvSpPr>
        <p:spPr>
          <a:xfrm>
            <a:off x="2450592"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AUPRC</a:t>
            </a:r>
            <a:endParaRPr lang="en-US" sz="1300" dirty="0"/>
          </a:p>
        </p:txBody>
      </p:sp>
      <p:sp>
        <p:nvSpPr>
          <p:cNvPr id="10" name="Shape 8"/>
          <p:cNvSpPr/>
          <p:nvPr/>
        </p:nvSpPr>
        <p:spPr>
          <a:xfrm>
            <a:off x="4352544"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1" name="Text 9"/>
          <p:cNvSpPr/>
          <p:nvPr/>
        </p:nvSpPr>
        <p:spPr>
          <a:xfrm>
            <a:off x="4352544"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−0.7%</a:t>
            </a:r>
            <a:endParaRPr lang="en-US" sz="2700" dirty="0"/>
          </a:p>
        </p:txBody>
      </p:sp>
      <p:sp>
        <p:nvSpPr>
          <p:cNvPr id="12" name="Text 10"/>
          <p:cNvSpPr/>
          <p:nvPr/>
        </p:nvSpPr>
        <p:spPr>
          <a:xfrm>
            <a:off x="4352544"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Accuracy</a:t>
            </a:r>
            <a:endParaRPr lang="en-US" sz="1300" dirty="0"/>
          </a:p>
        </p:txBody>
      </p:sp>
      <p:sp>
        <p:nvSpPr>
          <p:cNvPr id="13" name="Shape 11"/>
          <p:cNvSpPr/>
          <p:nvPr/>
        </p:nvSpPr>
        <p:spPr>
          <a:xfrm>
            <a:off x="6254496"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4" name="Text 12"/>
          <p:cNvSpPr/>
          <p:nvPr/>
        </p:nvSpPr>
        <p:spPr>
          <a:xfrm>
            <a:off x="6254496"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≈0</a:t>
            </a:r>
            <a:endParaRPr lang="en-US" sz="2700" dirty="0"/>
          </a:p>
        </p:txBody>
      </p:sp>
      <p:sp>
        <p:nvSpPr>
          <p:cNvPr id="15" name="Text 13"/>
          <p:cNvSpPr/>
          <p:nvPr/>
        </p:nvSpPr>
        <p:spPr>
          <a:xfrm>
            <a:off x="6254496"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Precision</a:t>
            </a:r>
            <a:endParaRPr lang="en-US" sz="1300" dirty="0"/>
          </a:p>
        </p:txBody>
      </p:sp>
      <p:sp>
        <p:nvSpPr>
          <p:cNvPr id="16" name="Shape 14"/>
          <p:cNvSpPr/>
          <p:nvPr/>
        </p:nvSpPr>
        <p:spPr>
          <a:xfrm>
            <a:off x="8156448"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17" name="Text 15"/>
          <p:cNvSpPr/>
          <p:nvPr/>
        </p:nvSpPr>
        <p:spPr>
          <a:xfrm>
            <a:off x="8156448"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+2.7%</a:t>
            </a:r>
            <a:endParaRPr lang="en-US" sz="2700" dirty="0"/>
          </a:p>
        </p:txBody>
      </p:sp>
      <p:sp>
        <p:nvSpPr>
          <p:cNvPr id="18" name="Text 16"/>
          <p:cNvSpPr/>
          <p:nvPr/>
        </p:nvSpPr>
        <p:spPr>
          <a:xfrm>
            <a:off x="8156448"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Recall</a:t>
            </a:r>
            <a:endParaRPr lang="en-US" sz="1300" dirty="0"/>
          </a:p>
        </p:txBody>
      </p:sp>
      <p:sp>
        <p:nvSpPr>
          <p:cNvPr id="19" name="Shape 17"/>
          <p:cNvSpPr/>
          <p:nvPr/>
        </p:nvSpPr>
        <p:spPr>
          <a:xfrm>
            <a:off x="10058400" y="1920240"/>
            <a:ext cx="1755648" cy="1920240"/>
          </a:xfrm>
          <a:prstGeom prst="roundRect">
            <a:avLst>
              <a:gd name="adj" fmla="val 5208"/>
            </a:avLst>
          </a:prstGeom>
          <a:solidFill>
            <a:srgbClr val="132747"/>
          </a:solidFill>
          <a:ln w="12700">
            <a:solidFill>
              <a:srgbClr val="1C7293"/>
            </a:solidFill>
            <a:prstDash val="solid"/>
          </a:ln>
        </p:spPr>
        <p:txBody>
          <a:bodyPr/>
          <a:p/>
        </p:txBody>
      </p:sp>
      <p:sp>
        <p:nvSpPr>
          <p:cNvPr id="20" name="Text 18"/>
          <p:cNvSpPr/>
          <p:nvPr/>
        </p:nvSpPr>
        <p:spPr>
          <a:xfrm>
            <a:off x="10058400" y="2148840"/>
            <a:ext cx="1755648" cy="914400"/>
          </a:xfrm>
          <a:prstGeom prst="rect">
            <a:avLst/>
          </a:prstGeom>
          <a:noFill/>
          <a:ln/>
        </p:spPr>
        <p:txBody>
          <a:bodyPr wrap="square" rtlCol="0" anchor="ctr"/>
          <a:lstStyle/>
          <a:p>
            <a:pPr algn="ctr" indent="0" marL="0">
              <a:buNone/>
            </a:pPr>
            <a:r>
              <a:rPr lang="en-US" sz="2700" b="1" dirty="0">
                <a:solidFill>
                  <a:srgbClr val="CADCFC"/>
                </a:solidFill>
                <a:latin typeface="Cambria" pitchFamily="34" charset="0"/>
                <a:ea typeface="Cambria" pitchFamily="34" charset="-122"/>
                <a:cs typeface="Cambria" pitchFamily="34" charset="-120"/>
              </a:rPr>
              <a:t>≈0</a:t>
            </a:r>
            <a:endParaRPr lang="en-US" sz="2700" dirty="0"/>
          </a:p>
        </p:txBody>
      </p:sp>
      <p:sp>
        <p:nvSpPr>
          <p:cNvPr id="21" name="Text 19"/>
          <p:cNvSpPr/>
          <p:nvPr/>
        </p:nvSpPr>
        <p:spPr>
          <a:xfrm>
            <a:off x="10058400" y="3154680"/>
            <a:ext cx="1755648"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F1</a:t>
            </a:r>
            <a:endParaRPr lang="en-US" sz="1300" dirty="0"/>
          </a:p>
        </p:txBody>
      </p:sp>
      <p:sp>
        <p:nvSpPr>
          <p:cNvPr id="22" name="Text 20"/>
          <p:cNvSpPr/>
          <p:nvPr/>
        </p:nvSpPr>
        <p:spPr>
          <a:xfrm>
            <a:off x="548640" y="4251960"/>
            <a:ext cx="11064240" cy="914400"/>
          </a:xfrm>
          <a:prstGeom prst="rect">
            <a:avLst/>
          </a:prstGeom>
          <a:noFill/>
          <a:ln/>
        </p:spPr>
        <p:txBody>
          <a:bodyPr wrap="square" rtlCol="0" anchor="ctr"/>
          <a:lstStyle/>
          <a:p>
            <a:pPr indent="0" marL="0">
              <a:lnSpc>
                <a:spcPts val="2000"/>
              </a:lnSpc>
              <a:buNone/>
            </a:pPr>
            <a:r>
              <a:rPr lang="en-US" sz="1600" i="1" dirty="0">
                <a:solidFill>
                  <a:srgbClr val="D6DEEB"/>
                </a:solidFill>
                <a:latin typeface="Calibri" pitchFamily="34" charset="0"/>
                <a:ea typeface="Calibri" pitchFamily="34" charset="-122"/>
                <a:cs typeface="Calibri" pitchFamily="34" charset="-120"/>
              </a:rPr>
              <a:t>Δ = (MLP + Mamdani FIS) − (MLP không có đặc trưng mờ), cùng mẫu 246.600 dòng và cùng seed. Đặc trưng mờ cải thiện rõ nhất ở AUPRC (+7.5%) và Recall (+2.7%) — hai chỉ số quan trọng nhất với dữ liệu lệch lớp ~3%; Accuracy/Precision gần như không đổi. Kết luận: nhánh Mamdani đóng góp thực sự vào chất lượng xếp hạng rủi ro.</a:t>
            </a:r>
            <a:endParaRPr lang="en-US" sz="1400" dirty="0"/>
          </a:p>
        </p:txBody>
      </p:sp>
      <p:sp>
        <p:nvSpPr>
          <p:cNvPr id="23" name="Text 21"/>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8FA3C7"/>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5 · KẾT QUẢ THỰC NGHIỆM</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Đường cong huấn luyện &amp; ROC / Precision-Recall</a:t>
            </a:r>
            <a:endParaRPr lang="en-US" sz="3200" dirty="0"/>
          </a:p>
        </p:txBody>
      </p:sp>
      <p:pic>
        <p:nvPicPr>
          <p:cNvPr id="4" name="Image 0" descr="D:/06.BT/MachineLearningAdvance/CuoiKy/rba_local_project/outputs/training_curves.png">    </p:cNvPr>
          <p:cNvPicPr>
            <a:picLocks noChangeAspect="1"/>
          </p:cNvPicPr>
          <p:nvPr/>
        </p:nvPicPr>
        <p:blipFill>
          <a:blip r:embed="rId1"/>
          <a:stretch>
            <a:fillRect/>
          </a:stretch>
        </p:blipFill>
        <p:spPr>
          <a:xfrm>
            <a:off x="502920" y="1965960"/>
            <a:ext cx="5394960" cy="1867486"/>
          </a:xfrm>
          <a:prstGeom prst="rect">
            <a:avLst/>
          </a:prstGeom>
        </p:spPr>
      </p:pic>
      <p:pic>
        <p:nvPicPr>
          <p:cNvPr id="5" name="Image 1" descr="D:/06.BT/MachineLearningAdvance/CuoiKy/rba_local_project/outputs/roc_pr_curves.png">    </p:cNvPr>
          <p:cNvPicPr>
            <a:picLocks noChangeAspect="1"/>
          </p:cNvPicPr>
          <p:nvPr/>
        </p:nvPicPr>
        <p:blipFill>
          <a:blip r:embed="rId2"/>
          <a:stretch>
            <a:fillRect/>
          </a:stretch>
        </p:blipFill>
        <p:spPr>
          <a:xfrm>
            <a:off x="6263640" y="1965960"/>
            <a:ext cx="5394960" cy="2074985"/>
          </a:xfrm>
          <a:prstGeom prst="rect">
            <a:avLst/>
          </a:prstGeom>
        </p:spPr>
      </p:pic>
      <p:sp>
        <p:nvSpPr>
          <p:cNvPr id="6" name="Shape 2"/>
          <p:cNvSpPr/>
          <p:nvPr/>
        </p:nvSpPr>
        <p:spPr>
          <a:xfrm>
            <a:off x="502920" y="4343400"/>
            <a:ext cx="11201400" cy="1874520"/>
          </a:xfrm>
          <a:prstGeom prst="roundRect">
            <a:avLst>
              <a:gd name="adj" fmla="val 4878"/>
            </a:avLst>
          </a:prstGeom>
          <a:solidFill>
            <a:srgbClr val="FFFFFF"/>
          </a:solidFill>
          <a:ln w="12700">
            <a:solidFill>
              <a:srgbClr val="E1E0D9"/>
            </a:solidFill>
            <a:prstDash val="solid"/>
          </a:ln>
          <a:effectLst>
            <a:outerShdw sx="100000" sy="100000" kx="0" ky="0" algn="bl" rotWithShape="0" blurRad="76200" dist="25400" dir="5400000">
              <a:srgbClr val="000000">
                <a:alpha val="10000"/>
              </a:srgbClr>
            </a:outerShdw>
          </a:effectLst>
        </p:spPr>
        <p:txBody>
          <a:bodyPr/>
          <a:p/>
        </p:txBody>
      </p:sp>
      <p:sp>
        <p:nvSpPr>
          <p:cNvPr id="7" name="Text 3"/>
          <p:cNvSpPr/>
          <p:nvPr/>
        </p:nvSpPr>
        <p:spPr>
          <a:xfrm>
            <a:off x="777240" y="4544568"/>
            <a:ext cx="4572000" cy="36576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NHẬN XÉT</a:t>
            </a:r>
            <a:endParaRPr lang="en-US" sz="1300" dirty="0"/>
          </a:p>
        </p:txBody>
      </p:sp>
      <p:sp>
        <p:nvSpPr>
          <p:cNvPr id="8" name="Text 4"/>
          <p:cNvSpPr/>
          <p:nvPr/>
        </p:nvSpPr>
        <p:spPr>
          <a:xfrm>
            <a:off x="777240" y="4937760"/>
            <a:ext cx="10607040" cy="1188720"/>
          </a:xfrm>
          <a:prstGeom prst="rect">
            <a:avLst/>
          </a:prstGeom>
          <a:noFill/>
          <a:ln/>
        </p:spPr>
        <p:txBody>
          <a:bodyPr wrap="square" rtlCol="0" anchor="ctr"/>
          <a:lstStyle/>
          <a:p>
            <a:pPr indent="0" marL="0">
              <a:lnSpc>
                <a:spcPts val="2000"/>
              </a:lnSpc>
              <a:buNone/>
            </a:pPr>
            <a:r>
              <a:rPr lang="en-US" sz="1600" dirty="0">
                <a:solidFill>
                  <a:srgbClr val="232323"/>
                </a:solidFill>
                <a:latin typeface="Calibri" pitchFamily="34" charset="0"/>
                <a:ea typeface="Calibri" pitchFamily="34" charset="-122"/>
                <a:cs typeface="Calibri" pitchFamily="34" charset="-120"/>
              </a:rPr>
              <a:t>Train loss giảm ổn định, Val AUPRC/AUROC hội tụ trước epoch 30 (early stopping kích hoạt) → mô hình không overfitting. AUC-ROC = 0.866 cho thấy khả năng phân biệt tốt; đường Precision-Recall thấp hơn nhiều so với ROC — đúng đặc trưng của bài toán có tỷ lệ dương chỉ ~3%, nơi AUPRC phản ánh độ khó thực tế rõ hơn AUROC.</a:t>
            </a:r>
            <a:endParaRPr lang="en-US" sz="1400" dirty="0"/>
          </a:p>
        </p:txBody>
      </p:sp>
      <p:sp>
        <p:nvSpPr>
          <p:cNvPr id="9" name="Text 5"/>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1C7293"/>
                </a:solidFill>
                <a:latin typeface="Calibri" pitchFamily="34" charset="0"/>
                <a:ea typeface="Calibri" pitchFamily="34" charset="-122"/>
                <a:cs typeface="Calibri" pitchFamily="34" charset="-120"/>
              </a:rPr>
              <a:t>PHẦN 6 · HẠN CHẾ &amp; KẾT LUẬN</a:t>
            </a:r>
            <a:endParaRPr lang="en-US" sz="1300" dirty="0"/>
          </a:p>
        </p:txBody>
      </p:sp>
      <p:sp>
        <p:nvSpPr>
          <p:cNvPr id="3" name="Text 1"/>
          <p:cNvSpPr/>
          <p:nvPr/>
        </p:nvSpPr>
        <p:spPr>
          <a:xfrm>
            <a:off x="548640" y="685800"/>
            <a:ext cx="11064240" cy="822960"/>
          </a:xfrm>
          <a:prstGeom prst="rect">
            <a:avLst/>
          </a:prstGeom>
          <a:noFill/>
          <a:ln/>
        </p:spPr>
        <p:txBody>
          <a:bodyPr wrap="square" rtlCol="0" anchor="ctr"/>
          <a:lstStyle/>
          <a:p>
            <a:pPr indent="0" marL="0">
              <a:buNone/>
            </a:pPr>
            <a:r>
              <a:rPr lang="en-US" sz="3200" b="1" dirty="0">
                <a:solidFill>
                  <a:srgbClr val="132747"/>
                </a:solidFill>
                <a:latin typeface="Cambria" pitchFamily="34" charset="0"/>
                <a:ea typeface="Cambria" pitchFamily="34" charset="-122"/>
                <a:cs typeface="Cambria" pitchFamily="34" charset="-120"/>
              </a:rPr>
              <a:t>Hạn chế &amp; Hướng phát triển</a:t>
            </a:r>
            <a:endParaRPr lang="en-US" sz="3200" dirty="0"/>
          </a:p>
        </p:txBody>
      </p:sp>
      <p:sp>
        <p:nvSpPr>
          <p:cNvPr id="4" name="Shape 2"/>
          <p:cNvSpPr/>
          <p:nvPr/>
        </p:nvSpPr>
        <p:spPr>
          <a:xfrm>
            <a:off x="548640" y="1783080"/>
            <a:ext cx="5349240" cy="4297680"/>
          </a:xfrm>
          <a:prstGeom prst="roundRect">
            <a:avLst>
              <a:gd name="adj" fmla="val 2128"/>
            </a:avLst>
          </a:prstGeom>
          <a:solidFill>
            <a:srgbClr val="FFFFFF"/>
          </a:solidFill>
          <a:ln w="19050">
            <a:solidFill>
              <a:srgbClr val="0CA30C"/>
            </a:solidFill>
            <a:prstDash val="solid"/>
          </a:ln>
        </p:spPr>
        <p:txBody>
          <a:bodyPr/>
          <a:p/>
        </p:txBody>
      </p:sp>
      <p:sp>
        <p:nvSpPr>
          <p:cNvPr id="5" name="Text 3"/>
          <p:cNvSpPr/>
          <p:nvPr/>
        </p:nvSpPr>
        <p:spPr>
          <a:xfrm>
            <a:off x="822960" y="1965960"/>
            <a:ext cx="4846320" cy="457200"/>
          </a:xfrm>
          <a:prstGeom prst="rect">
            <a:avLst/>
          </a:prstGeom>
          <a:noFill/>
          <a:ln/>
        </p:spPr>
        <p:txBody>
          <a:bodyPr wrap="square" rtlCol="0" anchor="ctr"/>
          <a:lstStyle/>
          <a:p>
            <a:pPr indent="0" marL="0">
              <a:buNone/>
            </a:pPr>
            <a:r>
              <a:rPr lang="en-US" sz="1600" b="1" dirty="0">
                <a:solidFill>
                  <a:srgbClr val="0CA30C"/>
                </a:solidFill>
                <a:latin typeface="Cambria" pitchFamily="34" charset="0"/>
                <a:ea typeface="Cambria" pitchFamily="34" charset="-122"/>
                <a:cs typeface="Cambria" pitchFamily="34" charset="-120"/>
              </a:rPr>
              <a:t>✓  ĐÃ PHÁT HIỆN &amp; KHẮC PHỤC (2 lỗi)</a:t>
            </a:r>
            <a:endParaRPr lang="en-US" sz="1450" dirty="0"/>
          </a:p>
        </p:txBody>
      </p:sp>
      <p:sp>
        <p:nvSpPr>
          <p:cNvPr id="6" name="Text 4"/>
          <p:cNvSpPr/>
          <p:nvPr/>
        </p:nvSpPr>
        <p:spPr>
          <a:xfrm>
            <a:off x="822960" y="2468880"/>
            <a:ext cx="4846320" cy="3474720"/>
          </a:xfrm>
          <a:prstGeom prst="rect">
            <a:avLst/>
          </a:prstGeom>
          <a:noFill/>
          <a:ln/>
        </p:spPr>
        <p:txBody>
          <a:bodyPr wrap="square" rtlCol="0" anchor="ctr"/>
          <a:lstStyle/>
          <a:p>
            <a:pPr marL="342900" indent="-342900">
              <a:lnSpc>
                <a:spcPts val="1600"/>
              </a:lnSpc>
              <a:spcAft>
                <a:spcPts val="800"/>
              </a:spcAft>
              <a:buSzPct val="100000"/>
              <a:buChar char="•"/>
            </a:pPr>
            <a:r>
              <a:rPr lang="en-US" sz="1600" dirty="0">
                <a:solidFill>
                  <a:srgbClr val="232323"/>
                </a:solidFill>
                <a:latin typeface="Calibri" pitchFamily="34" charset="0"/>
                <a:ea typeface="Calibri" pitchFamily="34" charset="-122"/>
                <a:cs typeface="Calibri" pitchFamily="34" charset="-120"/>
              </a:rPr>
              <a:t>Lỗi 1 — Thước đo dùng để chấm điểm trước đây bị tính lại theo từng nhóm dữ liệu nhỏ thay vì cố định từ lúc huấn luyện, làm điểm rủi ro của một lượt đăng nhập riêng lẻ bị lệch. Đã sửa: cố định thước đo học từ tập huấn luyện.</a:t>
            </a:r>
            <a:endParaRPr lang="en-US" sz="1200" dirty="0"/>
          </a:p>
          <a:p>
            <a:pPr marL="342900" indent="-342900">
              <a:lnSpc>
                <a:spcPts val="1600"/>
              </a:lnSpc>
              <a:spcAft>
                <a:spcPts val="800"/>
              </a:spcAft>
              <a:buSzPct val="100000"/>
              <a:buChar char="•"/>
            </a:pPr>
            <a:r>
              <a:rPr lang="en-US" sz="1600" dirty="0">
                <a:solidFill>
                  <a:srgbClr val="232323"/>
                </a:solidFill>
                <a:latin typeface="Calibri" pitchFamily="34" charset="0"/>
                <a:ea typeface="Calibri" pitchFamily="34" charset="-122"/>
                <a:cs typeface="Calibri" pitchFamily="34" charset="-120"/>
              </a:rPr>
              <a:t>Lỗi 2 — Một vài con số thống kê chung trước đây được tính trên cả phần dữ liệu dùng để kiểm tra, làm kết quả đánh giá cao hơn thực tế. Đã sửa: chỉ tính trên phần dữ liệu huấn luyện.</a:t>
            </a:r>
            <a:endParaRPr lang="en-US" sz="1200" dirty="0"/>
          </a:p>
          <a:p>
            <a:pPr marL="342900" indent="-342900">
              <a:lnSpc>
                <a:spcPts val="1600"/>
              </a:lnSpc>
              <a:buSzPct val="100000"/>
              <a:buChar char="•"/>
            </a:pPr>
            <a:r>
              <a:rPr lang="en-US" sz="1600" dirty="0">
                <a:solidFill>
                  <a:srgbClr val="232323"/>
                </a:solidFill>
                <a:latin typeface="Calibri" pitchFamily="34" charset="0"/>
                <a:ea typeface="Calibri" pitchFamily="34" charset="-122"/>
                <a:cs typeface="Calibri" pitchFamily="34" charset="-120"/>
              </a:rPr>
              <a:t>Sau khi sửa cả 2 lỗi, mô hình đã được huấn luyện lại và chạy thử — cho kết quả hợp lý, phân biệt rõ trường hợp rủi ro cao và thấp.</a:t>
            </a:r>
            <a:endParaRPr lang="en-US" sz="1200" dirty="0"/>
          </a:p>
        </p:txBody>
      </p:sp>
      <p:sp>
        <p:nvSpPr>
          <p:cNvPr id="7" name="Shape 5"/>
          <p:cNvSpPr/>
          <p:nvPr/>
        </p:nvSpPr>
        <p:spPr>
          <a:xfrm>
            <a:off x="6263640" y="1783080"/>
            <a:ext cx="5349240" cy="4297680"/>
          </a:xfrm>
          <a:prstGeom prst="roundRect">
            <a:avLst>
              <a:gd name="adj" fmla="val 2128"/>
            </a:avLst>
          </a:prstGeom>
          <a:solidFill>
            <a:srgbClr val="FFFFFF"/>
          </a:solidFill>
          <a:ln w="19050">
            <a:solidFill>
              <a:srgbClr val="D03B3B"/>
            </a:solidFill>
            <a:prstDash val="solid"/>
          </a:ln>
        </p:spPr>
        <p:txBody>
          <a:bodyPr/>
          <a:p/>
        </p:txBody>
      </p:sp>
      <p:sp>
        <p:nvSpPr>
          <p:cNvPr id="8" name="Text 6"/>
          <p:cNvSpPr/>
          <p:nvPr/>
        </p:nvSpPr>
        <p:spPr>
          <a:xfrm>
            <a:off x="6537960" y="2011680"/>
            <a:ext cx="4846320" cy="640080"/>
          </a:xfrm>
          <a:prstGeom prst="rect">
            <a:avLst/>
          </a:prstGeom>
          <a:noFill/>
          <a:ln/>
        </p:spPr>
        <p:txBody>
          <a:bodyPr wrap="square" rtlCol="0" anchor="ctr"/>
          <a:lstStyle/>
          <a:p>
            <a:pPr indent="0" marL="0">
              <a:buNone/>
            </a:pPr>
            <a:r>
              <a:rPr lang="en-US" sz="1600" b="1" dirty="0">
                <a:solidFill>
                  <a:srgbClr val="D03B3B"/>
                </a:solidFill>
                <a:latin typeface="Cambria" pitchFamily="34" charset="0"/>
                <a:ea typeface="Cambria" pitchFamily="34" charset="-122"/>
                <a:cs typeface="Cambria" pitchFamily="34" charset="-120"/>
              </a:rPr>
              <a:t>⚠  HẠN CHẾ CÒN LẠI &amp; HƯỚNG PHÁT TRIỂN</a:t>
            </a:r>
            <a:endParaRPr lang="en-US" sz="1450" dirty="0"/>
          </a:p>
        </p:txBody>
      </p:sp>
      <p:sp>
        <p:nvSpPr>
          <p:cNvPr id="9" name="Text 7"/>
          <p:cNvSpPr/>
          <p:nvPr/>
        </p:nvSpPr>
        <p:spPr>
          <a:xfrm>
            <a:off x="6537960" y="2788920"/>
            <a:ext cx="4846320" cy="3154680"/>
          </a:xfrm>
          <a:prstGeom prst="rect">
            <a:avLst/>
          </a:prstGeom>
          <a:noFill/>
          <a:ln/>
        </p:spPr>
        <p:txBody>
          <a:bodyPr wrap="square" rtlCol="0" anchor="ctr"/>
          <a:lstStyle/>
          <a:p>
            <a:pPr marL="342900" indent="-342900">
              <a:lnSpc>
                <a:spcPts val="1700"/>
              </a:lnSpc>
              <a:spcAft>
                <a:spcPts val="900"/>
              </a:spcAft>
              <a:buSzPct val="100000"/>
              <a:buChar char="•"/>
            </a:pPr>
            <a:r>
              <a:rPr lang="en-US" sz="1600" dirty="0">
                <a:solidFill>
                  <a:srgbClr val="232323"/>
                </a:solidFill>
                <a:latin typeface="Calibri" pitchFamily="34" charset="0"/>
                <a:ea typeface="Calibri" pitchFamily="34" charset="-122"/>
                <a:cs typeface="Calibri" pitchFamily="34" charset="-120"/>
              </a:rPr>
              <a:t>Tỉ lệ cảnh báo đúng còn thấp: trung bình khoảng 9 cảnh báo tấn công mới có 1 cảnh báo đúng (nhiều báo động giả). Có thể chỉnh mức ngưỡng để tăng tỉ lệ đúng, nhưng đổi lại sẽ bỏ sót nhiều tấn công hơn.</a:t>
            </a:r>
            <a:endParaRPr lang="en-US" sz="1250" dirty="0"/>
          </a:p>
          <a:p>
            <a:pPr marL="342900" indent="-342900">
              <a:lnSpc>
                <a:spcPts val="1700"/>
              </a:lnSpc>
              <a:spcAft>
                <a:spcPts val="900"/>
              </a:spcAft>
              <a:buSzPct val="100000"/>
              <a:buChar char="•"/>
            </a:pPr>
            <a:r>
              <a:rPr lang="en-US" sz="1600" dirty="0">
                <a:solidFill>
                  <a:srgbClr val="232323"/>
                </a:solidFill>
                <a:latin typeface="Calibri" pitchFamily="34" charset="0"/>
                <a:ea typeface="Calibri" pitchFamily="34" charset="-122"/>
                <a:cs typeface="Calibri" pitchFamily="34" charset="-120"/>
              </a:rPr>
              <a:t>8 luật của hệ mờ hiện do con người tự đặt, chưa để máy tự học từ dữ liệu.</a:t>
            </a:r>
            <a:endParaRPr lang="en-US" sz="1250" dirty="0"/>
          </a:p>
          <a:p>
            <a:pPr marL="342900" indent="-342900">
              <a:lnSpc>
                <a:spcPts val="1700"/>
              </a:lnSpc>
              <a:buSzPct val="100000"/>
              <a:buChar char="•"/>
            </a:pPr>
            <a:r>
              <a:rPr lang="en-US" sz="1600" dirty="0">
                <a:solidFill>
                  <a:srgbClr val="232323"/>
                </a:solidFill>
                <a:latin typeface="Calibri" pitchFamily="34" charset="0"/>
                <a:ea typeface="Calibri" pitchFamily="34" charset="-122"/>
                <a:cs typeface="Calibri" pitchFamily="34" charset="-120"/>
              </a:rPr>
              <a:t>Hướng phát triển: xử lý dữ liệu mất cân bằng tốt hơn, chọn mức ngưỡng theo chi phí thực tế, và cho máy tự học bộ luật mờ thay vì đặt thủ công.</a:t>
            </a:r>
            <a:endParaRPr lang="en-US" sz="1250" dirty="0"/>
          </a:p>
        </p:txBody>
      </p:sp>
      <p:sp>
        <p:nvSpPr>
          <p:cNvPr id="10" name="Text 8"/>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A0A0A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32747"/>
          </a:solidFill>
          <a:ln/>
        </p:spPr>
        <p:txBody>
          <a:bodyPr/>
          <a:p/>
        </p:txBody>
      </p:sp>
      <p:sp>
        <p:nvSpPr>
          <p:cNvPr id="3" name="Text 1"/>
          <p:cNvSpPr/>
          <p:nvPr/>
        </p:nvSpPr>
        <p:spPr>
          <a:xfrm>
            <a:off x="548640" y="384048"/>
            <a:ext cx="7315200" cy="320040"/>
          </a:xfrm>
          <a:prstGeom prst="rect">
            <a:avLst/>
          </a:prstGeom>
          <a:noFill/>
          <a:ln/>
        </p:spPr>
        <p:txBody>
          <a:bodyPr wrap="square" rtlCol="0" anchor="ctr"/>
          <a:lstStyle/>
          <a:p>
            <a:pPr indent="0" marL="0">
              <a:buNone/>
            </a:pPr>
            <a:r>
              <a:rPr lang="en-US" sz="1600" b="1" spc="200" kern="0" dirty="0">
                <a:solidFill>
                  <a:srgbClr val="CADCFC"/>
                </a:solidFill>
                <a:latin typeface="Calibri" pitchFamily="34" charset="0"/>
                <a:ea typeface="Calibri" pitchFamily="34" charset="-122"/>
                <a:cs typeface="Calibri" pitchFamily="34" charset="-120"/>
              </a:rPr>
              <a:t>KẾT LUẬN</a:t>
            </a:r>
            <a:endParaRPr lang="en-US" sz="1300" dirty="0"/>
          </a:p>
        </p:txBody>
      </p:sp>
      <p:sp>
        <p:nvSpPr>
          <p:cNvPr id="4" name="Text 2"/>
          <p:cNvSpPr/>
          <p:nvPr/>
        </p:nvSpPr>
        <p:spPr>
          <a:xfrm>
            <a:off x="822960" y="1371600"/>
            <a:ext cx="10515600" cy="1463040"/>
          </a:xfrm>
          <a:prstGeom prst="rect">
            <a:avLst/>
          </a:prstGeom>
          <a:noFill/>
          <a:ln/>
        </p:spPr>
        <p:txBody>
          <a:bodyPr wrap="square" rtlCol="0" anchor="ctr"/>
          <a:lstStyle/>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Một hệ thống lai — nơi tri thức chuyên gia</a:t>
            </a:r>
            <a:endParaRPr lang="en-US" sz="3000" dirty="0"/>
          </a:p>
          <a:p>
            <a:pPr indent="0" marL="0">
              <a:lnSpc>
                <a:spcPts val="3800"/>
              </a:lnSpc>
              <a:buNone/>
            </a:pPr>
            <a:r>
              <a:rPr lang="en-US" sz="3000" b="1" dirty="0">
                <a:solidFill>
                  <a:srgbClr val="FFFFFF"/>
                </a:solidFill>
                <a:latin typeface="Cambria" pitchFamily="34" charset="0"/>
                <a:ea typeface="Cambria" pitchFamily="34" charset="-122"/>
                <a:cs typeface="Cambria" pitchFamily="34" charset="-120"/>
              </a:rPr>
              <a:t>và học sâu bổ trợ lẫn nhau</a:t>
            </a:r>
            <a:endParaRPr lang="en-US" sz="3000" dirty="0"/>
          </a:p>
        </p:txBody>
      </p:sp>
      <p:sp>
        <p:nvSpPr>
          <p:cNvPr id="5" name="Text 3"/>
          <p:cNvSpPr/>
          <p:nvPr/>
        </p:nvSpPr>
        <p:spPr>
          <a:xfrm>
            <a:off x="822960" y="3017520"/>
            <a:ext cx="9875520" cy="1645920"/>
          </a:xfrm>
          <a:prstGeom prst="rect">
            <a:avLst/>
          </a:prstGeom>
          <a:noFill/>
          <a:ln/>
        </p:spPr>
        <p:txBody>
          <a:bodyPr wrap="square" rtlCol="0" anchor="ctr"/>
          <a:lstStyle/>
          <a:p>
            <a:pPr indent="0" marL="0">
              <a:lnSpc>
                <a:spcPts val="2400"/>
              </a:lnSpc>
              <a:buNone/>
            </a:pPr>
            <a:r>
              <a:rPr lang="en-US" sz="1600" dirty="0">
                <a:solidFill>
                  <a:srgbClr val="D6DEEB"/>
                </a:solidFill>
                <a:latin typeface="Calibri" pitchFamily="34" charset="0"/>
                <a:ea typeface="Calibri" pitchFamily="34" charset="-122"/>
                <a:cs typeface="Calibri" pitchFamily="34" charset="-120"/>
              </a:rPr>
              <a:t>Mamdani Fuzzy Inference System mã hoá tri thức chuyên gia (8 luật IF-THEN) thành đặc trưng bổ sung; MLP học phần còn lại từ dữ liệu thô. Trên 500.000 lượt đăng nhập thật, mô hình đạt AUROC 0.866 và Recall 84.9% — phát hiện được phần lớn tấn công, với đánh đổi báo động giả có thể điều chỉnh qua ngưỡng quyết định.</a:t>
            </a:r>
            <a:endParaRPr lang="en-US" sz="1600" dirty="0"/>
          </a:p>
        </p:txBody>
      </p:sp>
      <p:sp>
        <p:nvSpPr>
          <p:cNvPr id="6" name="Text 4"/>
          <p:cNvSpPr/>
          <p:nvPr/>
        </p:nvSpPr>
        <p:spPr>
          <a:xfrm>
            <a:off x="11548872" y="6446520"/>
            <a:ext cx="457200" cy="274320"/>
          </a:xfrm>
          <a:prstGeom prst="rect">
            <a:avLst/>
          </a:prstGeom>
          <a:noFill/>
          <a:ln/>
        </p:spPr>
        <p:txBody>
          <a:bodyPr wrap="square" rtlCol="0" anchor="ctr"/>
          <a:lstStyle/>
          <a:p>
            <a:pPr algn="r" indent="0" marL="0">
              <a:buNone/>
            </a:pPr>
            <a:r>
              <a:rPr lang="en-US" sz="1600" dirty="0">
                <a:solidFill>
                  <a:srgbClr val="8FA3C7"/>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778240" y="-2103120"/>
            <a:ext cx="6400800" cy="6400800"/>
          </a:xfrm>
          <a:prstGeom prst="ellipse">
            <a:avLst/>
          </a:prstGeom>
          <a:solidFill>
            <a:srgbClr val="132747"/>
          </a:solidFill>
          <a:ln/>
        </p:spPr>
        <p:txBody>
          <a:bodyPr/>
          <a:p/>
        </p:txBody>
      </p:sp>
      <p:sp>
        <p:nvSpPr>
          <p:cNvPr id="3" name="Text 1"/>
          <p:cNvSpPr/>
          <p:nvPr/>
        </p:nvSpPr>
        <p:spPr>
          <a:xfrm>
            <a:off x="822960" y="2651760"/>
            <a:ext cx="9601200" cy="1645920"/>
          </a:xfrm>
          <a:prstGeom prst="rect">
            <a:avLst/>
          </a:prstGeom>
          <a:noFill/>
          <a:ln/>
        </p:spPr>
        <p:txBody>
          <a:bodyPr wrap="square" rtlCol="0" anchor="ctr"/>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CẢM ƠN THẦY/CÔ</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ĐÃ LẮNG NGHE</a:t>
            </a:r>
            <a:endParaRPr lang="en-US" sz="4000" dirty="0"/>
          </a:p>
        </p:txBody>
      </p:sp>
      <p:sp>
        <p:nvSpPr>
          <p:cNvPr id="4" name="Text 2"/>
          <p:cNvSpPr/>
          <p:nvPr/>
        </p:nvSpPr>
        <p:spPr>
          <a:xfrm>
            <a:off x="822960" y="4114800"/>
            <a:ext cx="7315200" cy="548640"/>
          </a:xfrm>
          <a:prstGeom prst="rect">
            <a:avLst/>
          </a:prstGeom>
          <a:noFill/>
          <a:ln/>
        </p:spPr>
        <p:txBody>
          <a:bodyPr wrap="square" rtlCol="0" anchor="ctr"/>
          <a:lstStyle/>
          <a:p>
            <a:pPr indent="0" marL="0">
              <a:buNone/>
            </a:pPr>
            <a:r>
              <a:rPr lang="en-US" sz="1800" i="1" dirty="0">
                <a:solidFill>
                  <a:srgbClr val="CADCFC"/>
                </a:solidFill>
                <a:latin typeface="Calibri" pitchFamily="34" charset="0"/>
                <a:ea typeface="Calibri" pitchFamily="34" charset="-122"/>
                <a:cs typeface="Calibri" pitchFamily="34" charset="-120"/>
              </a:rPr>
              <a:t>Câu hỏi &amp; thảo luận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2026-07-22T03:57:50Z</dcterms:created>
  <dcterms:modified xsi:type="dcterms:W3CDTF">2026-07-22T03:57:50Z</dcterms:modified>
</cp:coreProperties>
</file>