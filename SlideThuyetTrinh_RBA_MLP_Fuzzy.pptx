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B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A3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CUỐI KỲ  •  HỌC MÁY NÂNG CAO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hiện đăng nhập rủi ro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bằng MLP kết hợp Fuzzy Logic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Authentication (RBA)  —  Mamdani Fuzzy Inference System + Multi-Layer Perceptron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Trung Kiên — 2591310      Nguyễn Minh Tuấn — 2591325      Lê Phú Nhân — 2591317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Lớp: KHMT 2025B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phần chính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768096" cy="768096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76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0391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RBA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49631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cần chấm điểm rủi ro đăng nhập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176272"/>
            <a:ext cx="768096" cy="768096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176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2360" y="20391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hệ thống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52360" y="249631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lai MLP + Mamdani Fuzzy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867912"/>
            <a:ext cx="768096" cy="768096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86791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7307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Mamdani Fuzzy Logic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418795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bước suy diễn mờ, minh hoạ số cụ thể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566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3867912"/>
            <a:ext cx="768096" cy="768096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386791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52360" y="37307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Mạng MLP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52360" y="418795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trúc, loss, huấn luyện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559552"/>
            <a:ext cx="768096" cy="768096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5595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37360" y="54223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thực nghiệm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737360" y="587959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AUROC, AUPRC, Precision/Recall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52578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9672" y="5559552"/>
            <a:ext cx="768096" cy="768096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31" name="Text 29"/>
          <p:cNvSpPr/>
          <p:nvPr/>
        </p:nvSpPr>
        <p:spPr>
          <a:xfrm>
            <a:off x="6519672" y="55595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52360" y="54223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 &amp; Kết luận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452360" y="587959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khi phân tích lại mã nguồn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BÀI TOÁN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Risk-Based Authentication là gì?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vì chỉ kiểm tra “đúng mật khẩu là cho vào”, hệ thống chấm một điểm rủi ro cho mỗi lượt đăng nhập dựa trên nhiều tín hiệu ngữ cảnh: vị trí, thiết bị, nhà mạng, thời điểm, và lịch sử hành vi của chính người dùng đó.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đồ án: dự đoán xác suất một lượt đăng nhập đến từ IP tấn công, trên 500.000 dòng dữ liệu log thật.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132747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182880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Đăng nhập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41080" y="29352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747"/>
                </a:solidFill>
              </a:rPr>
              <a:t>▼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09360" y="356616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356616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Chấm điểm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41080" y="467258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747"/>
                </a:solidFill>
              </a:rPr>
              <a:t>▼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530352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D03B3B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530352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toàn → cho qua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→ xác thực thêm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BÀI TOÁN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dữ liệu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3274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019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500.000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lượt đăng nhập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78308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32747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9019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251960" y="2697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tấn công (Is Attack IP)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178308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32747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19019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955280" y="2697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 đặc trưng thô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“Login Data Set for Risk-Based Authentication” (Wiefling, Lo Iacono, Dürmuth) — dữ liệu log đăng nhập thật đã ẩn danh hoá.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2519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Timestamp, User ID, Round-Trip Time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432511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42519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Region, City, ASN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1091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Type, Browser, OS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26480" y="501091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Successful, Is Attack IP, Is Account Takeover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BÀI TOÁN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chọn nhãn “Is Attack IP”?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1E0D9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Không dùng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Account Takeover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~4 mẫu dương / 500.000 dòng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quá ít để học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1E0D9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Không dùng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651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Successful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6118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ánh lỗi kỹ thuật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 là rủi ro bảo mật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ĐÃ CHỌN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651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Attack IP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36118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 dương — đủ dữ liệu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đúng bản chất bài toán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KIẾN TRÚC HỆ THỐNG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lai: MLP + Mamdani Fuzzy</a:t>
            </a:r>
            <a:endParaRPr lang="en-US" sz="3200" dirty="0"/>
          </a:p>
        </p:txBody>
      </p:sp>
      <p:pic>
        <p:nvPicPr>
          <p:cNvPr id="4" name="Image 0" descr="D:/06.BT/MachineLearningAdvance/CuoiKy/BaoCao_Assets/hinh1_kien_truc_tong_t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9816" y="1600200"/>
            <a:ext cx="680932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KIẾN TRÚC HỆ THỐNG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Trích xuất đặc trưng (Feature Engineering)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trưng “lịch sử người dùng” chỉ dùng thông tin TRƯỚC ĐÓ (shift theo thời gian) — tránh Data Leakage.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50008"/>
            <a:ext cx="548640" cy="548640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36829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Thời gian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3017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hour_of_day, day_of_week, is_weekend, is_odd_hour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2350008"/>
            <a:ext cx="548640" cy="548640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📶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66360" y="236829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Mạng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98848" y="3017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rtt_filled, rtt_missing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2350008"/>
            <a:ext cx="548640" cy="548640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15400" y="236829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 hiếm toàn cục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47888" y="3017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country_rarity, asn_rarity = 1 − tần suất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498848"/>
            <a:ext cx="548640" cy="548640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498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451713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Lịch sử user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9808" y="516636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time_since_last_login_h, is_new_country/city/asn/device, user_success_rate_so_far, num_changes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297680" y="429768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98848" y="4498848"/>
            <a:ext cx="548640" cy="548640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4498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166360" y="451713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bị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498848" y="516636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 (one-hot encoding)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MAMDANI FUZZY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bước suy diễn mờ (Mamdani FIS)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327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7612" y="242316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467612" y="24231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3649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Fuzzification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913632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biến → Low/Medium/High</a:t>
            </a:r>
            <a:endParaRPr lang="en-US" sz="11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(hàm tam giác, ngưỡng percentile train)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3154680" y="36576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10712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327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9684" y="242316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329684" y="24231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47872" y="33649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Evaluation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93592" y="3913632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luật IF-THEN</a:t>
            </a:r>
            <a:endParaRPr lang="en-US" sz="11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= min, OR = max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016752" y="36576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72784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327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91756" y="242316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191756" y="24231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9944" y="33649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55664" y="3913632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3 tập mờ đầu ra</a:t>
            </a:r>
            <a:endParaRPr lang="en-US" sz="11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toán tử max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878824" y="36576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34856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327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3828" y="242316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3828" y="24231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272016" y="33649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Defuzzification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317736" y="3913632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→ 1 điểm rủi ro</a:t>
            </a:r>
            <a:endParaRPr lang="en-US" sz="11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 nhất trong [0,1]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MAMDANI FUZZY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Hàm thành viên thực tế (fit trên 500.000 dòng Train)</a:t>
            </a:r>
            <a:endParaRPr lang="en-US" sz="3200" dirty="0"/>
          </a:p>
        </p:txBody>
      </p:sp>
      <p:pic>
        <p:nvPicPr>
          <p:cNvPr id="4" name="Image 0" descr="D:/06.BT/MachineLearningAdvance/CuoiKy/BaoCao_Assets/hinh2_membership_f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226" y="1645920"/>
            <a:ext cx="90805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MAMDANI FUZZY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luật IF-THEN (tri thức chuyên gia)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663440"/>
        </p:xfrm>
        <a:graphic>
          <a:graphicData uri="http://schemas.openxmlformats.org/drawingml/2006/table">
            <a:tbl>
              <a:tblPr/>
              <a:tblGrid>
                <a:gridCol w="914400"/>
                <a:gridCol w="8138160"/>
                <a:gridCol w="2011680"/>
              </a:tblGrid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Luật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kiện (IF)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luận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new_country AND new_asn AND gap_high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success_rate_low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num_changes_high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asn_rarity_high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new_country AND NOT new_asn AND changes_low AND success_high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CA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gap_low AND country_rarity_low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CA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changes_med OR gap_med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8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success_med AND (NOT new_country OR NOT new_asn)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8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MAMDANI FUZZY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 minh hoạ trên 1 mẫu cụ thể</a:t>
            </a:r>
            <a:endParaRPr lang="en-US" sz="3200" dirty="0"/>
          </a:p>
        </p:txBody>
      </p:sp>
      <p:pic>
        <p:nvPicPr>
          <p:cNvPr id="4" name="Image 0" descr="D:/06.BT/MachineLearningAdvance/CuoiKy/BaoCao_Assets/hinh3_vidu_mamdani_4bu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6337963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15203" y="2560320"/>
            <a:ext cx="4525109" cy="1828800"/>
          </a:xfrm>
          <a:prstGeom prst="roundRect">
            <a:avLst>
              <a:gd name="adj" fmla="val 6000"/>
            </a:avLst>
          </a:prstGeom>
          <a:solidFill>
            <a:srgbClr val="D03B3B"/>
          </a:solidFill>
          <a:ln/>
        </p:spPr>
      </p:sp>
      <p:sp>
        <p:nvSpPr>
          <p:cNvPr id="6" name="Text 3"/>
          <p:cNvSpPr/>
          <p:nvPr/>
        </p:nvSpPr>
        <p:spPr>
          <a:xfrm>
            <a:off x="7115203" y="2743200"/>
            <a:ext cx="45251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0.839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115203" y="3520440"/>
            <a:ext cx="452510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risk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— RỦI RO CAO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MẠNG MLP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mạng MLP Classifier</a:t>
            </a:r>
            <a:endParaRPr lang="en-US" sz="3200" dirty="0"/>
          </a:p>
        </p:txBody>
      </p:sp>
      <p:pic>
        <p:nvPicPr>
          <p:cNvPr id="4" name="Image 0" descr="D:/06.BT/MachineLearningAdvance/CuoiKy/BaoCao_Assets/hinh4_kien_truc_m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707" y="1737360"/>
            <a:ext cx="8727539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MẠNG MLP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Chiến lược huấn luyện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938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9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Xử lý mất cân bằng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1856232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 với pos_weight = n_âm / n_dương (chỉ ~3% mẫu dương)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9864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98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825496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825496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(learning rate = 1e-3, weight decay = 1e-5)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679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794760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3794760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— giảm nửa LR nếu Val AUPRC không cải thiện sau 2 epoch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9087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3717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37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⏹️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764024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stopping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764024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 nếu Val AUPRC không cải thiện sau 5 epoch (tối đa 30 epoch)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66013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806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806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5733288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Chia dữ liệu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0560" y="5733288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Validation / 15% Test, stratified theo nhãn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KẾT QUẢ THỰC NGHIỆM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trên tập Test (75.000 dòng)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55648" cy="1920240"/>
          </a:xfrm>
          <a:prstGeom prst="roundRect">
            <a:avLst>
              <a:gd name="adj" fmla="val 5208"/>
            </a:avLst>
          </a:prstGeom>
          <a:solidFill>
            <a:srgbClr val="1327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87.8%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50592" y="1920240"/>
            <a:ext cx="1755648" cy="1920240"/>
          </a:xfrm>
          <a:prstGeom prst="roundRect">
            <a:avLst>
              <a:gd name="adj" fmla="val 5208"/>
            </a:avLst>
          </a:prstGeom>
          <a:solidFill>
            <a:srgbClr val="1327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214884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450592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2544" y="1920240"/>
            <a:ext cx="1755648" cy="1920240"/>
          </a:xfrm>
          <a:prstGeom prst="roundRect">
            <a:avLst>
              <a:gd name="adj" fmla="val 5208"/>
            </a:avLst>
          </a:prstGeom>
          <a:solidFill>
            <a:srgbClr val="1327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214884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79.3%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352544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54496" y="1920240"/>
            <a:ext cx="1755648" cy="1920240"/>
          </a:xfrm>
          <a:prstGeom prst="roundRect">
            <a:avLst>
              <a:gd name="adj" fmla="val 5208"/>
            </a:avLst>
          </a:prstGeom>
          <a:solidFill>
            <a:srgbClr val="1327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214884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254496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6448" y="1920240"/>
            <a:ext cx="1755648" cy="1920240"/>
          </a:xfrm>
          <a:prstGeom prst="roundRect">
            <a:avLst>
              <a:gd name="adj" fmla="val 5208"/>
            </a:avLst>
          </a:prstGeom>
          <a:solidFill>
            <a:srgbClr val="1327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214884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84.3%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156448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58400" y="1920240"/>
            <a:ext cx="1755648" cy="1920240"/>
          </a:xfrm>
          <a:prstGeom prst="roundRect">
            <a:avLst>
              <a:gd name="adj" fmla="val 5208"/>
            </a:avLst>
          </a:prstGeom>
          <a:solidFill>
            <a:srgbClr val="1327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0" y="214884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0058400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cao (84.3%) — bắt được phần lớn tấn công thật.  Precision thấp (11.3%) — hệ quả của dữ liệu mất cân bằng (~3% dương) ở ngưỡng mặc định 0.5. Đổi ngưỡng theo F1 (0.844): Precision → 28.9%, F1 → 0.324.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KẾT QUẢ THỰC NGHIỆM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Đường cong huấn luyện &amp; ROC / Precision-Recall</a:t>
            </a:r>
            <a:endParaRPr lang="en-US" sz="3200" dirty="0"/>
          </a:p>
        </p:txBody>
      </p:sp>
      <p:pic>
        <p:nvPicPr>
          <p:cNvPr id="4" name="Image 0" descr="D:/06.BT/MachineLearningAdvance/CuoiKy/rba_local_project/outputs/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5394960" cy="1867486"/>
          </a:xfrm>
          <a:prstGeom prst="rect">
            <a:avLst/>
          </a:prstGeom>
        </p:spPr>
      </p:pic>
      <p:pic>
        <p:nvPicPr>
          <p:cNvPr id="5" name="Image 1" descr="D:/06.BT/MachineLearningAdvance/CuoiKy/rba_local_project/outputs/roc_pr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65960"/>
            <a:ext cx="5394960" cy="20749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4343400"/>
            <a:ext cx="11201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77240" y="45445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XÉT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77240" y="49377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giảm ổn định, Val AUPRC/AUROC hội tụ trước epoch 30 (early stopping kích hoạt) → mô hình không overfitting. AUC-ROC = 0.878 cho thấy khả năng phân biệt tốt; đường Precision-Recall thấp hơn nhiều so với ROC — đúng đặc trưng của bài toán có tỷ lệ dương chỉ ~3%, nơi AUPRC phản ánh độ khó thực tế rõ hơn AUROC.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HẠN CHẾ &amp; KẾT LUẬN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 &amp; Hướng phát triển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9050">
            <a:solidFill>
              <a:srgbClr val="0CA3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A3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ĐÃ PHÁT HIỆN &amp; KHẮC PHỤC (2 lỗi)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xmin/xmax trong fuzzy_mamdani.py từng tính lại theo batch — méo kết quả khi suy luận 1 dòng đơn lẻ. Đã sửa: lưu cố định từ fit().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thống kê toàn cục: median RTT và độ hiếm Country/ASN trước đây tính trên CẢ dữ liệu (gồm val/test). Đã sửa: fit_global_stats() chỉ trên train.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huấn luyện lại sau cả 2 lần sửa — kiểm chứng bằng demo inference.py cho kết quả tách biệt hợp lý giữa 2 kịch bản.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9050">
            <a:solidFill>
              <a:srgbClr val="D03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011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HẠN CHẾ CÒN LẠI &amp; HƯỚNG PHÁT TRIỂN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37960" y="2788920"/>
            <a:ext cx="48463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thấp (11.3%) ở ngưỡng 0.5. Đổi ngưỡng F1 (0.844) → Precision 28.9%, nhưng Recall giảm còn 37.0% — vẫn cần đánh đổi theo mục tiêu thực tế.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luật fuzzy thiết kế thủ công, chưa học tự động từ dữ liệu.</a:t>
            </a:r>
            <a:endParaRPr lang="en-US" sz="12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tới: thử Focal Loss, chọn ngưỡng theo chi phí thực tế, hoặc dùng ANFIS để tự học tham số hàm thành viên.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hệ thống lai — nơi tri thức chuyên gia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 học sâu bổ trợ lẫn nhau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Mamdani Fuzzy Inference System mã hoá tri thức chuyên gia (8 luật IF-THEN) thành đặc trưng bổ sung; MLP học phần còn lại từ dữ liệu thô. Trên 500.000 lượt đăng nhập thật, mô hình đạt AUROC 0.878 và Recall 84.3% — phát hiện được phần lớn tấn công, với đánh đổi báo động giả có thể điều chỉnh qua ngưỡng quyết định.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1327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THẦY/CÔ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LẮNG NGHE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&amp; thảo luận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2026-07-22T03:57:50Z</dcterms:created>
  <dcterms:modified xsi:type="dcterms:W3CDTF">2026-07-22T03:57:50Z</dcterms:modified>
</cp:coreProperties>
</file>